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50"/>
  </p:notesMasterIdLst>
  <p:sldIdLst>
    <p:sldId id="256" r:id="rId2"/>
    <p:sldId id="301" r:id="rId3"/>
    <p:sldId id="303" r:id="rId4"/>
    <p:sldId id="302" r:id="rId5"/>
    <p:sldId id="272" r:id="rId6"/>
    <p:sldId id="263" r:id="rId7"/>
    <p:sldId id="264" r:id="rId8"/>
    <p:sldId id="265" r:id="rId9"/>
    <p:sldId id="266" r:id="rId10"/>
    <p:sldId id="267" r:id="rId11"/>
    <p:sldId id="268" r:id="rId12"/>
    <p:sldId id="269" r:id="rId13"/>
    <p:sldId id="270" r:id="rId14"/>
    <p:sldId id="271" r:id="rId15"/>
    <p:sldId id="298" r:id="rId16"/>
    <p:sldId id="304" r:id="rId17"/>
    <p:sldId id="305" r:id="rId18"/>
    <p:sldId id="306" r:id="rId19"/>
    <p:sldId id="273" r:id="rId20"/>
    <p:sldId id="291" r:id="rId21"/>
    <p:sldId id="290" r:id="rId22"/>
    <p:sldId id="274" r:id="rId23"/>
    <p:sldId id="275" r:id="rId24"/>
    <p:sldId id="276" r:id="rId25"/>
    <p:sldId id="307" r:id="rId26"/>
    <p:sldId id="308" r:id="rId27"/>
    <p:sldId id="309" r:id="rId28"/>
    <p:sldId id="277" r:id="rId29"/>
    <p:sldId id="278" r:id="rId30"/>
    <p:sldId id="279" r:id="rId31"/>
    <p:sldId id="280" r:id="rId32"/>
    <p:sldId id="281" r:id="rId33"/>
    <p:sldId id="282" r:id="rId34"/>
    <p:sldId id="283" r:id="rId35"/>
    <p:sldId id="292" r:id="rId36"/>
    <p:sldId id="293" r:id="rId37"/>
    <p:sldId id="310" r:id="rId38"/>
    <p:sldId id="311" r:id="rId39"/>
    <p:sldId id="312" r:id="rId40"/>
    <p:sldId id="294" r:id="rId41"/>
    <p:sldId id="295" r:id="rId42"/>
    <p:sldId id="288" r:id="rId43"/>
    <p:sldId id="296" r:id="rId44"/>
    <p:sldId id="297" r:id="rId45"/>
    <p:sldId id="299" r:id="rId46"/>
    <p:sldId id="313" r:id="rId47"/>
    <p:sldId id="314" r:id="rId48"/>
    <p:sldId id="315"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4B2392-818F-4DD9-BF48-079AD9831115}">
          <p14:sldIdLst>
            <p14:sldId id="256"/>
            <p14:sldId id="301"/>
            <p14:sldId id="303"/>
            <p14:sldId id="302"/>
          </p14:sldIdLst>
        </p14:section>
        <p14:section name="Organizational" id="{678A4A3D-6AF5-4DE1-A84C-F12B65C1BEDF}">
          <p14:sldIdLst>
            <p14:sldId id="272"/>
            <p14:sldId id="263"/>
            <p14:sldId id="264"/>
            <p14:sldId id="265"/>
            <p14:sldId id="266"/>
            <p14:sldId id="267"/>
            <p14:sldId id="268"/>
            <p14:sldId id="269"/>
            <p14:sldId id="270"/>
            <p14:sldId id="271"/>
            <p14:sldId id="298"/>
            <p14:sldId id="304"/>
            <p14:sldId id="305"/>
            <p14:sldId id="306"/>
          </p14:sldIdLst>
        </p14:section>
        <p14:section name="Software Design" id="{5010B91A-318B-486E-B80C-C0861FD637DA}">
          <p14:sldIdLst>
            <p14:sldId id="273"/>
            <p14:sldId id="291"/>
            <p14:sldId id="290"/>
            <p14:sldId id="274"/>
            <p14:sldId id="275"/>
            <p14:sldId id="276"/>
            <p14:sldId id="307"/>
            <p14:sldId id="308"/>
            <p14:sldId id="309"/>
          </p14:sldIdLst>
        </p14:section>
        <p14:section name="Programming" id="{6A8F04FB-A351-49DF-B882-BC54260BCF4A}">
          <p14:sldIdLst>
            <p14:sldId id="277"/>
            <p14:sldId id="278"/>
            <p14:sldId id="279"/>
            <p14:sldId id="280"/>
            <p14:sldId id="281"/>
            <p14:sldId id="282"/>
            <p14:sldId id="283"/>
            <p14:sldId id="292"/>
            <p14:sldId id="293"/>
            <p14:sldId id="310"/>
            <p14:sldId id="311"/>
            <p14:sldId id="312"/>
          </p14:sldIdLst>
        </p14:section>
        <p14:section name="Methodological" id="{045143F6-F1FA-499D-96B7-B1392307B33B}">
          <p14:sldIdLst>
            <p14:sldId id="294"/>
            <p14:sldId id="295"/>
            <p14:sldId id="288"/>
            <p14:sldId id="296"/>
            <p14:sldId id="297"/>
            <p14:sldId id="299"/>
            <p14:sldId id="313"/>
            <p14:sldId id="314"/>
            <p14:sldId id="31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78" autoAdjust="0"/>
    <p:restoredTop sz="94660"/>
  </p:normalViewPr>
  <p:slideViewPr>
    <p:cSldViewPr snapToGrid="0">
      <p:cViewPr varScale="1">
        <p:scale>
          <a:sx n="236" d="100"/>
          <a:sy n="236" d="100"/>
        </p:scale>
        <p:origin x="228" y="636"/>
      </p:cViewPr>
      <p:guideLst/>
    </p:cSldViewPr>
  </p:slideViewPr>
  <p:notesTextViewPr>
    <p:cViewPr>
      <p:scale>
        <a:sx n="1" d="1"/>
        <a:sy n="1" d="1"/>
      </p:scale>
      <p:origin x="0" y="0"/>
    </p:cViewPr>
  </p:notesTextViewPr>
  <p:notesViewPr>
    <p:cSldViewPr snapToGrid="0">
      <p:cViewPr varScale="1">
        <p:scale>
          <a:sx n="197" d="100"/>
          <a:sy n="197" d="100"/>
        </p:scale>
        <p:origin x="1452" y="14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490A5-4E86-477E-AA35-5EBF646CB8CB}"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63362-A165-4503-83D0-57108A6798EB}" type="slidenum">
              <a:rPr lang="en-US" smtClean="0"/>
              <a:t>‹#›</a:t>
            </a:fld>
            <a:endParaRPr lang="en-US"/>
          </a:p>
        </p:txBody>
      </p:sp>
    </p:spTree>
    <p:extLst>
      <p:ext uri="{BB962C8B-B14F-4D97-AF65-F5344CB8AC3E}">
        <p14:creationId xmlns:p14="http://schemas.microsoft.com/office/powerpoint/2010/main" val="52480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A63362-A165-4503-83D0-57108A6798EB}" type="slidenum">
              <a:rPr lang="en-US" smtClean="0"/>
              <a:t>1</a:t>
            </a:fld>
            <a:endParaRPr lang="en-US"/>
          </a:p>
        </p:txBody>
      </p:sp>
    </p:spTree>
    <p:extLst>
      <p:ext uri="{BB962C8B-B14F-4D97-AF65-F5344CB8AC3E}">
        <p14:creationId xmlns:p14="http://schemas.microsoft.com/office/powerpoint/2010/main" val="3426926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3101182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4278649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272249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2B5EF7-4FA1-4C3C-A90F-73C89C06ECCA}"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954712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2B5EF7-4FA1-4C3C-A90F-73C89C06ECCA}"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81777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2B5EF7-4FA1-4C3C-A90F-73C89C06ECCA}"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344584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B5EF7-4FA1-4C3C-A90F-73C89C06ECCA}"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238449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2B5EF7-4FA1-4C3C-A90F-73C89C06ECCA}"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512960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FBB1B5-9A4B-445B-B532-F229C60FBA85}" type="slidenum">
              <a:rPr lang="en-US" smtClean="0"/>
              <a:t>‹#›</a:t>
            </a:fld>
            <a:endParaRPr lang="en-US"/>
          </a:p>
        </p:txBody>
      </p:sp>
      <p:sp>
        <p:nvSpPr>
          <p:cNvPr id="5" name="Date Placeholder 4"/>
          <p:cNvSpPr>
            <a:spLocks noGrp="1"/>
          </p:cNvSpPr>
          <p:nvPr>
            <p:ph type="dt" sz="half" idx="10"/>
          </p:nvPr>
        </p:nvSpPr>
        <p:spPr/>
        <p:txBody>
          <a:bodyPr/>
          <a:lstStyle/>
          <a:p>
            <a:fld id="{342B5EF7-4FA1-4C3C-A90F-73C89C06ECCA}" type="datetimeFigureOut">
              <a:rPr lang="en-US" smtClean="0"/>
              <a:t>6/25/2026</a:t>
            </a:fld>
            <a:endParaRPr lang="en-US"/>
          </a:p>
        </p:txBody>
      </p:sp>
    </p:spTree>
    <p:extLst>
      <p:ext uri="{BB962C8B-B14F-4D97-AF65-F5344CB8AC3E}">
        <p14:creationId xmlns:p14="http://schemas.microsoft.com/office/powerpoint/2010/main" val="407279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488617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35065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3743807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8465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972759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2350042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B5EF7-4FA1-4C3C-A90F-73C89C06ECCA}"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FBB1B5-9A4B-445B-B532-F229C60FBA85}" type="slidenum">
              <a:rPr lang="en-US" smtClean="0"/>
              <a:t>‹#›</a:t>
            </a:fld>
            <a:endParaRPr lang="en-US"/>
          </a:p>
        </p:txBody>
      </p:sp>
    </p:spTree>
    <p:extLst>
      <p:ext uri="{BB962C8B-B14F-4D97-AF65-F5344CB8AC3E}">
        <p14:creationId xmlns:p14="http://schemas.microsoft.com/office/powerpoint/2010/main" val="1162926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2B5EF7-4FA1-4C3C-A90F-73C89C06ECCA}" type="datetimeFigureOut">
              <a:rPr lang="en-US" smtClean="0"/>
              <a:t>6/25/2026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5FBB1B5-9A4B-445B-B532-F229C60FBA85}" type="slidenum">
              <a:rPr lang="en-US" smtClean="0"/>
              <a:t>‹#›</a:t>
            </a:fld>
            <a:endParaRPr lang="en-US"/>
          </a:p>
        </p:txBody>
      </p:sp>
    </p:spTree>
    <p:extLst>
      <p:ext uri="{BB962C8B-B14F-4D97-AF65-F5344CB8AC3E}">
        <p14:creationId xmlns:p14="http://schemas.microsoft.com/office/powerpoint/2010/main" val="244074200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eburcham@eprod.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Law_of_trivialit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Sunk_cos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stackoverflow.com/questions/9302236/why-use-a-public-method-in-an-internal-clas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Broken_windows_theory" TargetMode="External"/><Relationship Id="rId2" Type="http://schemas.openxmlformats.org/officeDocument/2006/relationships/hyperlink" Target="https://en.wikipedia.org/wiki/Software_entropy"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4BD39-8940-4871-8E81-67E23B057A75}"/>
              </a:ext>
            </a:extLst>
          </p:cNvPr>
          <p:cNvSpPr>
            <a:spLocks noGrp="1"/>
          </p:cNvSpPr>
          <p:nvPr>
            <p:ph type="ctrTitle"/>
          </p:nvPr>
        </p:nvSpPr>
        <p:spPr/>
        <p:txBody>
          <a:bodyPr/>
          <a:lstStyle/>
          <a:p>
            <a:r>
              <a:rPr lang="en-US" dirty="0"/>
              <a:t>Software Anti-Patterns</a:t>
            </a:r>
          </a:p>
        </p:txBody>
      </p:sp>
      <p:sp>
        <p:nvSpPr>
          <p:cNvPr id="3" name="Subtitle 2">
            <a:extLst>
              <a:ext uri="{FF2B5EF4-FFF2-40B4-BE49-F238E27FC236}">
                <a16:creationId xmlns:a16="http://schemas.microsoft.com/office/drawing/2014/main" id="{EE30DAAB-360D-49E7-88A3-3E80EFD791EF}"/>
              </a:ext>
            </a:extLst>
          </p:cNvPr>
          <p:cNvSpPr>
            <a:spLocks noGrp="1"/>
          </p:cNvSpPr>
          <p:nvPr>
            <p:ph type="subTitle" idx="1"/>
          </p:nvPr>
        </p:nvSpPr>
        <p:spPr/>
        <p:txBody>
          <a:bodyPr/>
          <a:lstStyle/>
          <a:p>
            <a:r>
              <a:rPr lang="en-US" dirty="0"/>
              <a:t>The right way NOT to do it!</a:t>
            </a:r>
          </a:p>
        </p:txBody>
      </p:sp>
      <p:sp>
        <p:nvSpPr>
          <p:cNvPr id="4" name="Rectangle 3">
            <a:extLst>
              <a:ext uri="{FF2B5EF4-FFF2-40B4-BE49-F238E27FC236}">
                <a16:creationId xmlns:a16="http://schemas.microsoft.com/office/drawing/2014/main" id="{166E560C-0189-4CAD-B6C2-679D68A7E863}"/>
              </a:ext>
            </a:extLst>
          </p:cNvPr>
          <p:cNvSpPr/>
          <p:nvPr/>
        </p:nvSpPr>
        <p:spPr>
          <a:xfrm>
            <a:off x="1507067" y="5980102"/>
            <a:ext cx="10410506" cy="646331"/>
          </a:xfrm>
          <a:prstGeom prst="rect">
            <a:avLst/>
          </a:prstGeom>
        </p:spPr>
        <p:txBody>
          <a:bodyPr wrap="square">
            <a:spAutoFit/>
          </a:bodyPr>
          <a:lstStyle/>
          <a:p>
            <a:pPr algn="r"/>
            <a:r>
              <a:rPr lang="en-US" sz="3600" b="1" dirty="0">
                <a:ln w="19050">
                  <a:solidFill>
                    <a:schemeClr val="bg1"/>
                  </a:solidFill>
                </a:ln>
              </a:rPr>
              <a:t>https://github.com/ericburcham/anti-patterns</a:t>
            </a:r>
          </a:p>
        </p:txBody>
      </p:sp>
    </p:spTree>
    <p:extLst>
      <p:ext uri="{BB962C8B-B14F-4D97-AF65-F5344CB8AC3E}">
        <p14:creationId xmlns:p14="http://schemas.microsoft.com/office/powerpoint/2010/main" val="3442766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Content Placeholder 3">
            <a:extLst>
              <a:ext uri="{FF2B5EF4-FFF2-40B4-BE49-F238E27FC236}">
                <a16:creationId xmlns:a16="http://schemas.microsoft.com/office/drawing/2014/main" id="{D40BAA93-CD5B-4200-8BCC-FB0ECFE2F903}"/>
              </a:ext>
            </a:extLst>
          </p:cNvPr>
          <p:cNvSpPr txBox="1">
            <a:spLocks noGrp="1"/>
          </p:cNvSpPr>
          <p:nvPr>
            <p:ph idx="1"/>
          </p:nvPr>
        </p:nvSpPr>
        <p:spPr>
          <a:xfrm>
            <a:off x="677334" y="2160589"/>
            <a:ext cx="8596668" cy="3880773"/>
          </a:xfrm>
          <a:prstGeom prst="rect">
            <a:avLst/>
          </a:prstGeom>
        </p:spPr>
        <p:txBody>
          <a:bodyPr rtlCol="0">
            <a:normAutofit/>
          </a:bodyPr>
          <a:lstStyle/>
          <a:p>
            <a:pPr marL="0" indent="0">
              <a:buNone/>
            </a:pPr>
            <a:r>
              <a:rPr lang="en-US"/>
              <a:t>Eric Burcham</a:t>
            </a:r>
          </a:p>
          <a:p>
            <a:pPr marL="0" indent="0">
              <a:buNone/>
            </a:pPr>
            <a:r>
              <a:rPr lang="en-US"/>
              <a:t>Enterprise Products</a:t>
            </a:r>
          </a:p>
          <a:p>
            <a:pPr marL="0" indent="0">
              <a:buNone/>
            </a:pPr>
            <a:endParaRPr lang="en-US"/>
          </a:p>
          <a:p>
            <a:pPr marL="0" indent="0">
              <a:buNone/>
            </a:pPr>
            <a:r>
              <a:rPr lang="en-US">
                <a:hlinkClick r:id="rId2"/>
              </a:rPr>
              <a:t>eburcham@eprod.com</a:t>
            </a:r>
            <a:endParaRPr lang="en-US"/>
          </a:p>
          <a:p>
            <a:pPr marL="0" indent="0">
              <a:buNone/>
            </a:pPr>
            <a:endParaRPr lang="en-US"/>
          </a:p>
          <a:p>
            <a:pPr marL="0" indent="0">
              <a:buNone/>
            </a:pPr>
            <a:r>
              <a:rPr lang="en-US"/>
              <a:t>(214) 578–9217</a:t>
            </a:r>
          </a:p>
        </p:txBody>
      </p:sp>
    </p:spTree>
    <p:extLst>
      <p:ext uri="{BB962C8B-B14F-4D97-AF65-F5344CB8AC3E}">
        <p14:creationId xmlns:p14="http://schemas.microsoft.com/office/powerpoint/2010/main" val="352607779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FE6DED-E2B4-4219-9635-96134EDE459C}"/>
              </a:ext>
            </a:extLst>
          </p:cNvPr>
          <p:cNvSpPr>
            <a:spLocks noGrp="1"/>
          </p:cNvSpPr>
          <p:nvPr>
            <p:ph type="title"/>
          </p:nvPr>
        </p:nvSpPr>
        <p:spPr>
          <a:xfrm>
            <a:off x="677334" y="609599"/>
            <a:ext cx="3843375" cy="5545667"/>
          </a:xfrm>
        </p:spPr>
        <p:txBody>
          <a:bodyPr anchor="ctr">
            <a:normAutofit/>
          </a:bodyPr>
          <a:lstStyle/>
          <a:p>
            <a:r>
              <a:rPr lang="en-US">
                <a:solidFill>
                  <a:schemeClr val="tx1">
                    <a:lumMod val="85000"/>
                    <a:lumOff val="15000"/>
                  </a:schemeClr>
                </a:solidFill>
              </a:rPr>
              <a:t>About This Talk</a:t>
            </a:r>
          </a:p>
        </p:txBody>
      </p:sp>
      <p:sp>
        <p:nvSpPr>
          <p:cNvPr id="3" name="Content Placeholder 2">
            <a:extLst>
              <a:ext uri="{FF2B5EF4-FFF2-40B4-BE49-F238E27FC236}">
                <a16:creationId xmlns:a16="http://schemas.microsoft.com/office/drawing/2014/main" id="{38BDD22F-9219-4224-B9B2-C1A081667D4A}"/>
              </a:ext>
            </a:extLst>
          </p:cNvPr>
          <p:cNvSpPr>
            <a:spLocks noGrp="1"/>
          </p:cNvSpPr>
          <p:nvPr>
            <p:ph idx="1"/>
          </p:nvPr>
        </p:nvSpPr>
        <p:spPr>
          <a:xfrm>
            <a:off x="6116084" y="609600"/>
            <a:ext cx="5511296" cy="5545667"/>
          </a:xfrm>
        </p:spPr>
        <p:txBody>
          <a:bodyPr anchor="ctr">
            <a:normAutofit/>
          </a:bodyPr>
          <a:lstStyle/>
          <a:p>
            <a:r>
              <a:rPr lang="en-US">
                <a:solidFill>
                  <a:srgbClr val="FFFFFF"/>
                </a:solidFill>
              </a:rPr>
              <a:t>What is an anti-pattern?</a:t>
            </a:r>
          </a:p>
          <a:p>
            <a:pPr lvl="1"/>
            <a:r>
              <a:rPr lang="en-US">
                <a:solidFill>
                  <a:srgbClr val="FFFFFF"/>
                </a:solidFill>
              </a:rPr>
              <a:t>What is a design pattern?</a:t>
            </a:r>
          </a:p>
          <a:p>
            <a:r>
              <a:rPr lang="en-US">
                <a:solidFill>
                  <a:srgbClr val="FFFFFF"/>
                </a:solidFill>
              </a:rPr>
              <a:t>None of these anti-pattern names are original.</a:t>
            </a:r>
          </a:p>
          <a:p>
            <a:r>
              <a:rPr lang="en-US">
                <a:solidFill>
                  <a:srgbClr val="FFFFFF"/>
                </a:solidFill>
              </a:rPr>
              <a:t>Why I chose the anti-patterns I chose.</a:t>
            </a:r>
          </a:p>
          <a:p>
            <a:r>
              <a:rPr lang="en-US">
                <a:solidFill>
                  <a:srgbClr val="FFFFFF"/>
                </a:solidFill>
              </a:rPr>
              <a:t>Who this talk is for.</a:t>
            </a:r>
          </a:p>
          <a:p>
            <a:r>
              <a:rPr lang="en-US">
                <a:solidFill>
                  <a:srgbClr val="FFFFFF"/>
                </a:solidFill>
              </a:rPr>
              <a:t>How this talk is organized.</a:t>
            </a:r>
          </a:p>
          <a:p>
            <a:r>
              <a:rPr lang="en-US">
                <a:solidFill>
                  <a:srgbClr val="FFFFFF"/>
                </a:solidFill>
              </a:rPr>
              <a:t>Zero code.</a:t>
            </a:r>
          </a:p>
        </p:txBody>
      </p:sp>
    </p:spTree>
    <p:extLst>
      <p:ext uri="{BB962C8B-B14F-4D97-AF65-F5344CB8AC3E}">
        <p14:creationId xmlns:p14="http://schemas.microsoft.com/office/powerpoint/2010/main" val="14110239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5" name="Rectangle 24">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599"/>
            <a:ext cx="3843375" cy="5545667"/>
          </a:xfrm>
        </p:spPr>
        <p:txBody>
          <a:bodyPr anchor="ctr">
            <a:normAutofit/>
          </a:bodyPr>
          <a:lstStyle/>
          <a:p>
            <a:r>
              <a:rPr lang="en-US">
                <a:solidFill>
                  <a:schemeClr val="tx1">
                    <a:lumMod val="85000"/>
                    <a:lumOff val="15000"/>
                  </a:schemeClr>
                </a:solidFill>
              </a:rPr>
              <a:t>About This Talk</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116084" y="609600"/>
            <a:ext cx="5511296" cy="5545667"/>
          </a:xfrm>
        </p:spPr>
        <p:txBody>
          <a:bodyPr anchor="ctr">
            <a:normAutofit/>
          </a:bodyPr>
          <a:lstStyle/>
          <a:p>
            <a:pPr marL="0" indent="0">
              <a:buNone/>
            </a:pPr>
            <a:r>
              <a:rPr lang="en-US" b="1">
                <a:solidFill>
                  <a:srgbClr val="FFFFFF"/>
                </a:solidFill>
              </a:rPr>
              <a:t>What is an anti-patterns</a:t>
            </a:r>
            <a:endParaRPr lang="en-US">
              <a:solidFill>
                <a:srgbClr val="FFFFFF"/>
              </a:solidFill>
            </a:endParaRPr>
          </a:p>
          <a:p>
            <a:pPr marL="0" indent="0">
              <a:buNone/>
            </a:pPr>
            <a:endParaRPr lang="en-US">
              <a:solidFill>
                <a:srgbClr val="FFFFFF"/>
              </a:solidFill>
            </a:endParaRPr>
          </a:p>
          <a:p>
            <a:pPr marL="0" indent="0">
              <a:buNone/>
            </a:pPr>
            <a:r>
              <a:rPr lang="en-US" b="1">
                <a:solidFill>
                  <a:srgbClr val="FFFFFF"/>
                </a:solidFill>
              </a:rPr>
              <a:t>None of this is original.</a:t>
            </a:r>
            <a:endParaRPr lang="en-US">
              <a:solidFill>
                <a:srgbClr val="FFFFFF"/>
              </a:solidFill>
            </a:endParaRPr>
          </a:p>
          <a:p>
            <a:pPr marL="0" indent="0">
              <a:buNone/>
            </a:pPr>
            <a:endParaRPr lang="en-US">
              <a:solidFill>
                <a:srgbClr val="FFFFFF"/>
              </a:solidFill>
            </a:endParaRPr>
          </a:p>
          <a:p>
            <a:pPr marL="0" indent="0">
              <a:buNone/>
            </a:pPr>
            <a:r>
              <a:rPr lang="en-US" b="1">
                <a:solidFill>
                  <a:srgbClr val="FFFFFF"/>
                </a:solidFill>
              </a:rPr>
              <a:t>Why I chose the anti-patterns I chose.</a:t>
            </a:r>
          </a:p>
          <a:p>
            <a:pPr marL="0" indent="0">
              <a:buNone/>
            </a:pPr>
            <a:endParaRPr lang="en-US">
              <a:solidFill>
                <a:srgbClr val="FFFFFF"/>
              </a:solidFill>
            </a:endParaRPr>
          </a:p>
          <a:p>
            <a:pPr marL="0" indent="0">
              <a:buNone/>
            </a:pPr>
            <a:r>
              <a:rPr lang="en-US" b="1">
                <a:solidFill>
                  <a:srgbClr val="FFFFFF"/>
                </a:solidFill>
              </a:rPr>
              <a:t>How this talk is organized.</a:t>
            </a:r>
            <a:endParaRPr lang="en-US">
              <a:solidFill>
                <a:srgbClr val="FFFFFF"/>
              </a:solidFill>
            </a:endParaRPr>
          </a:p>
        </p:txBody>
      </p:sp>
    </p:spTree>
    <p:extLst>
      <p:ext uri="{BB962C8B-B14F-4D97-AF65-F5344CB8AC3E}">
        <p14:creationId xmlns:p14="http://schemas.microsoft.com/office/powerpoint/2010/main" val="28868579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24"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39" name="Picture 38" descr="Multi-colored push pins connected by a black wire">
            <a:extLst>
              <a:ext uri="{FF2B5EF4-FFF2-40B4-BE49-F238E27FC236}">
                <a16:creationId xmlns:a16="http://schemas.microsoft.com/office/drawing/2014/main" id="{6E52F059-AB45-36FC-9617-3D57FF2D8658}"/>
              </a:ext>
            </a:extLst>
          </p:cNvPr>
          <p:cNvPicPr>
            <a:picLocks noChangeAspect="1"/>
          </p:cNvPicPr>
          <p:nvPr/>
        </p:nvPicPr>
        <p:blipFill>
          <a:blip r:embed="rId2">
            <a:duotone>
              <a:prstClr val="black"/>
              <a:prstClr val="white"/>
            </a:duotone>
          </a:blip>
          <a:srcRect r="30981" b="-2"/>
          <a:stretch>
            <a:fillRect/>
          </a:stretch>
        </p:blipFill>
        <p:spPr>
          <a:xfrm>
            <a:off x="5097780" y="-1"/>
            <a:ext cx="7091044" cy="6858001"/>
          </a:xfrm>
          <a:custGeom>
            <a:avLst/>
            <a:gdLst/>
            <a:ahLst/>
            <a:cxnLst/>
            <a:rect l="l" t="t" r="r" b="b"/>
            <a:pathLst>
              <a:path w="7091044" h="6858001">
                <a:moveTo>
                  <a:pt x="405750" y="0"/>
                </a:moveTo>
                <a:lnTo>
                  <a:pt x="7091044" y="0"/>
                </a:lnTo>
                <a:lnTo>
                  <a:pt x="7091044" y="6858001"/>
                </a:lnTo>
                <a:lnTo>
                  <a:pt x="53572" y="6858001"/>
                </a:lnTo>
                <a:lnTo>
                  <a:pt x="1828991" y="4521201"/>
                </a:lnTo>
                <a:close/>
                <a:moveTo>
                  <a:pt x="0" y="0"/>
                </a:moveTo>
                <a:lnTo>
                  <a:pt x="405750" y="0"/>
                </a:lnTo>
                <a:lnTo>
                  <a:pt x="0" y="434"/>
                </a:lnTo>
                <a:close/>
              </a:path>
            </a:pathLst>
          </a:custGeom>
        </p:spPr>
      </p:pic>
      <p:sp>
        <p:nvSpPr>
          <p:cNvPr id="2" name="Title 1">
            <a:extLst>
              <a:ext uri="{FF2B5EF4-FFF2-40B4-BE49-F238E27FC236}">
                <a16:creationId xmlns:a16="http://schemas.microsoft.com/office/drawing/2014/main" id="{E48A83DE-EF42-4975-8A85-E7F8DEFE56E0}"/>
              </a:ext>
            </a:extLst>
          </p:cNvPr>
          <p:cNvSpPr>
            <a:spLocks noGrp="1"/>
          </p:cNvSpPr>
          <p:nvPr>
            <p:ph type="title"/>
          </p:nvPr>
        </p:nvSpPr>
        <p:spPr>
          <a:xfrm>
            <a:off x="668866" y="1678666"/>
            <a:ext cx="5123515" cy="2369093"/>
          </a:xfrm>
        </p:spPr>
        <p:txBody>
          <a:bodyPr vert="horz" lIns="91440" tIns="45720" rIns="91440" bIns="45720" rtlCol="0" anchor="b">
            <a:normAutofit/>
          </a:bodyPr>
          <a:lstStyle/>
          <a:p>
            <a:pPr algn="r"/>
            <a:r>
              <a:rPr lang="en-US" sz="4800"/>
              <a:t>Organizational Anti-Patterns</a:t>
            </a:r>
          </a:p>
        </p:txBody>
      </p:sp>
      <p:sp>
        <p:nvSpPr>
          <p:cNvPr id="3" name="Text Placeholder 2">
            <a:extLst>
              <a:ext uri="{FF2B5EF4-FFF2-40B4-BE49-F238E27FC236}">
                <a16:creationId xmlns:a16="http://schemas.microsoft.com/office/drawing/2014/main" id="{3C99F481-6F1A-41EC-A59A-10732236EB96}"/>
              </a:ext>
            </a:extLst>
          </p:cNvPr>
          <p:cNvSpPr>
            <a:spLocks noGrp="1"/>
          </p:cNvSpPr>
          <p:nvPr>
            <p:ph type="body" idx="1"/>
          </p:nvPr>
        </p:nvSpPr>
        <p:spPr>
          <a:xfrm>
            <a:off x="677335" y="4050831"/>
            <a:ext cx="5113217" cy="1096901"/>
          </a:xfrm>
        </p:spPr>
        <p:txBody>
          <a:bodyPr vert="horz" lIns="91440" tIns="45720" rIns="91440" bIns="45720" rtlCol="0" anchor="t">
            <a:normAutofit/>
          </a:bodyPr>
          <a:lstStyle/>
          <a:p>
            <a:pPr algn="r"/>
            <a:r>
              <a:rPr lang="en-US" sz="1600"/>
              <a:t>The wrong way to organize, manage, resource projects, and lead.</a:t>
            </a:r>
          </a:p>
        </p:txBody>
      </p:sp>
      <p:cxnSp>
        <p:nvCxnSpPr>
          <p:cNvPr id="21" name="Straight Connector 20">
            <a:extLst>
              <a:ext uri="{FF2B5EF4-FFF2-40B4-BE49-F238E27FC236}">
                <a16:creationId xmlns:a16="http://schemas.microsoft.com/office/drawing/2014/main" id="{27A85E05-9D34-4977-8352-DB39569974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CDED616-E554-4DB6-9F28-08F38A64A9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8CDA3497-1EDA-4EB3-9C27-4D9835D30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41F9764E-9AA0-49A3-9EA2-885EE991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FA3A4F4A-4DC4-43F2-AC2D-06211A812F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84CFB374-B343-457A-B567-B4D784B1F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0597FEEE-1E11-4396-BB69-B43FA92F9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9">
            <a:extLst>
              <a:ext uri="{FF2B5EF4-FFF2-40B4-BE49-F238E27FC236}">
                <a16:creationId xmlns:a16="http://schemas.microsoft.com/office/drawing/2014/main" id="{A2DB2F81-3E68-4044-B7C2-03DEEC50D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29">
            <a:extLst>
              <a:ext uri="{FF2B5EF4-FFF2-40B4-BE49-F238E27FC236}">
                <a16:creationId xmlns:a16="http://schemas.microsoft.com/office/drawing/2014/main" id="{DC2F7294-2397-4C96-AB1E-E66CDEA3B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30105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top view of books with different cover colors">
            <a:extLst>
              <a:ext uri="{FF2B5EF4-FFF2-40B4-BE49-F238E27FC236}">
                <a16:creationId xmlns:a16="http://schemas.microsoft.com/office/drawing/2014/main" id="{2161CB75-DB88-FC35-C374-6D018BAC243A}"/>
              </a:ext>
            </a:extLst>
          </p:cNvPr>
          <p:cNvPicPr>
            <a:picLocks noChangeAspect="1"/>
          </p:cNvPicPr>
          <p:nvPr/>
        </p:nvPicPr>
        <p:blipFill>
          <a:blip r:embed="rId2"/>
          <a:srcRect t="9028" r="-2" b="4403"/>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3" y="609600"/>
            <a:ext cx="3851123" cy="1320800"/>
          </a:xfrm>
        </p:spPr>
        <p:txBody>
          <a:bodyPr>
            <a:normAutofit/>
          </a:bodyPr>
          <a:lstStyle/>
          <a:p>
            <a:r>
              <a:rPr lang="en-US" dirty="0"/>
              <a:t>Analysis Paralysis</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3851122" cy="3880773"/>
          </a:xfrm>
        </p:spPr>
        <p:txBody>
          <a:bodyPr>
            <a:normAutofit/>
          </a:bodyPr>
          <a:lstStyle/>
          <a:p>
            <a:pPr marL="0" indent="0">
              <a:lnSpc>
                <a:spcPct val="90000"/>
              </a:lnSpc>
              <a:buNone/>
            </a:pPr>
            <a:r>
              <a:rPr lang="en-US" b="1" dirty="0"/>
              <a:t>Definition</a:t>
            </a:r>
            <a:r>
              <a:rPr lang="en-US" dirty="0"/>
              <a:t>:  Overthinking a design to the degree that a decision is never made, or action is never taken.</a:t>
            </a:r>
            <a:endParaRPr lang="en-US"/>
          </a:p>
          <a:p>
            <a:pPr marL="0" indent="0">
              <a:lnSpc>
                <a:spcPct val="90000"/>
              </a:lnSpc>
              <a:buNone/>
            </a:pPr>
            <a:endParaRPr lang="en-US"/>
          </a:p>
          <a:p>
            <a:pPr marL="0" indent="0">
              <a:lnSpc>
                <a:spcPct val="90000"/>
              </a:lnSpc>
              <a:buNone/>
            </a:pPr>
            <a:r>
              <a:rPr lang="en-US" b="1" dirty="0"/>
              <a:t>Symptoms</a:t>
            </a:r>
            <a:r>
              <a:rPr lang="en-US" dirty="0"/>
              <a:t>:  A decision is treated as over-complicated, with too many detailed options, and making a choice takes a long time.</a:t>
            </a:r>
            <a:endParaRPr lang="en-US"/>
          </a:p>
          <a:p>
            <a:pPr marL="0" indent="0">
              <a:lnSpc>
                <a:spcPct val="90000"/>
              </a:lnSpc>
              <a:buNone/>
            </a:pPr>
            <a:endParaRPr lang="en-US"/>
          </a:p>
          <a:p>
            <a:pPr marL="0" indent="0">
              <a:lnSpc>
                <a:spcPct val="90000"/>
              </a:lnSpc>
              <a:buNone/>
            </a:pPr>
            <a:r>
              <a:rPr lang="en-US" b="1" dirty="0"/>
              <a:t>Solution</a:t>
            </a:r>
            <a:r>
              <a:rPr lang="en-US" dirty="0"/>
              <a:t>:  Stop striving for perfection and try something sensible.  Adapt as problems arise.</a:t>
            </a:r>
            <a:endParaRPr lang="en-US"/>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F4F2C-F77D-45B1-8B79-E5F6B120C1FA}"/>
              </a:ext>
            </a:extLst>
          </p:cNvPr>
          <p:cNvSpPr>
            <a:spLocks noGrp="1"/>
          </p:cNvSpPr>
          <p:nvPr>
            <p:ph type="title"/>
          </p:nvPr>
        </p:nvSpPr>
        <p:spPr/>
        <p:txBody>
          <a:bodyPr/>
          <a:lstStyle/>
          <a:p>
            <a:r>
              <a:rPr lang="en-US" dirty="0"/>
              <a:t>Bike Shedding</a:t>
            </a:r>
          </a:p>
        </p:txBody>
      </p:sp>
      <p:sp>
        <p:nvSpPr>
          <p:cNvPr id="3" name="Content Placeholder 2">
            <a:extLst>
              <a:ext uri="{FF2B5EF4-FFF2-40B4-BE49-F238E27FC236}">
                <a16:creationId xmlns:a16="http://schemas.microsoft.com/office/drawing/2014/main" id="{365059F3-3993-4DE4-BE5B-BB0CFE11F310}"/>
              </a:ext>
            </a:extLst>
          </p:cNvPr>
          <p:cNvSpPr>
            <a:spLocks noGrp="1"/>
          </p:cNvSpPr>
          <p:nvPr>
            <p:ph idx="1"/>
          </p:nvPr>
        </p:nvSpPr>
        <p:spPr/>
        <p:txBody>
          <a:bodyPr>
            <a:normAutofit/>
          </a:bodyPr>
          <a:lstStyle/>
          <a:p>
            <a:pPr marL="0" indent="0">
              <a:buNone/>
            </a:pPr>
            <a:r>
              <a:rPr lang="en-US" b="1" dirty="0"/>
              <a:t>Definition</a:t>
            </a:r>
            <a:r>
              <a:rPr lang="en-US" dirty="0"/>
              <a:t>:  When members of a team give disproportionate weight to trivial issues.</a:t>
            </a:r>
          </a:p>
          <a:p>
            <a:pPr marL="0" indent="0">
              <a:buNone/>
            </a:pPr>
            <a:endParaRPr lang="en-US" dirty="0"/>
          </a:p>
          <a:p>
            <a:pPr marL="0" indent="0">
              <a:buNone/>
            </a:pPr>
            <a:r>
              <a:rPr lang="en-US" b="1" dirty="0"/>
              <a:t>Symptoms</a:t>
            </a:r>
            <a:r>
              <a:rPr lang="en-US" dirty="0"/>
              <a:t>:  </a:t>
            </a:r>
            <a:r>
              <a:rPr lang="en-US" dirty="0">
                <a:hlinkClick r:id="rId2"/>
              </a:rPr>
              <a:t>Parkinson’s law of triviality</a:t>
            </a:r>
            <a:r>
              <a:rPr lang="en-US" dirty="0"/>
              <a:t> is in effect.  Humans </a:t>
            </a:r>
            <a:r>
              <a:rPr lang="en-US" i="1" dirty="0"/>
              <a:t>tend towards the trivial</a:t>
            </a:r>
            <a:r>
              <a:rPr lang="en-US" dirty="0"/>
              <a:t>.  You are arguing about unimportant detail when you should be solving the big problems.</a:t>
            </a:r>
          </a:p>
          <a:p>
            <a:pPr marL="0" indent="0">
              <a:buNone/>
            </a:pPr>
            <a:endParaRPr lang="en-US" dirty="0"/>
          </a:p>
          <a:p>
            <a:pPr marL="0" indent="0">
              <a:buNone/>
            </a:pPr>
            <a:r>
              <a:rPr lang="en-US" b="1" dirty="0"/>
              <a:t>Solution</a:t>
            </a:r>
            <a:r>
              <a:rPr lang="en-US" dirty="0"/>
              <a:t>:  Assign the simple stuff to a competent person, give them the authority to do it, and </a:t>
            </a:r>
            <a:r>
              <a:rPr lang="en-US" i="1" dirty="0"/>
              <a:t>get out of their way</a:t>
            </a:r>
            <a:r>
              <a:rPr lang="en-US" dirty="0"/>
              <a:t>.</a:t>
            </a:r>
          </a:p>
          <a:p>
            <a:pPr marL="0" indent="0">
              <a:buNone/>
            </a:pPr>
            <a:endParaRPr lang="en-US" dirty="0"/>
          </a:p>
          <a:p>
            <a:pPr marL="0" indent="0">
              <a:buNone/>
            </a:pPr>
            <a:r>
              <a:rPr lang="en-US" b="1" dirty="0"/>
              <a:t>Caveat</a:t>
            </a:r>
            <a:r>
              <a:rPr lang="en-US" dirty="0"/>
              <a:t>:  No second-guessing the person in charge after the fact.</a:t>
            </a:r>
          </a:p>
        </p:txBody>
      </p:sp>
    </p:spTree>
    <p:extLst>
      <p:ext uri="{BB962C8B-B14F-4D97-AF65-F5344CB8AC3E}">
        <p14:creationId xmlns:p14="http://schemas.microsoft.com/office/powerpoint/2010/main" val="40225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reaching for a paper on a table full of paper and sticky notes">
            <a:extLst>
              <a:ext uri="{FF2B5EF4-FFF2-40B4-BE49-F238E27FC236}">
                <a16:creationId xmlns:a16="http://schemas.microsoft.com/office/drawing/2014/main" id="{0FC220B6-1023-7A56-DF73-238CA6D9D411}"/>
              </a:ext>
            </a:extLst>
          </p:cNvPr>
          <p:cNvPicPr>
            <a:picLocks noChangeAspect="1"/>
          </p:cNvPicPr>
          <p:nvPr/>
        </p:nvPicPr>
        <p:blipFill>
          <a:blip r:embed="rId2"/>
          <a:srcRect l="10949" r="11942" b="-2"/>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3" y="609600"/>
            <a:ext cx="3851123" cy="1320800"/>
          </a:xfrm>
        </p:spPr>
        <p:txBody>
          <a:bodyPr>
            <a:normAutofit/>
          </a:bodyPr>
          <a:lstStyle/>
          <a:p>
            <a:r>
              <a:rPr lang="en-US" dirty="0"/>
              <a:t>Design by Committee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3851122" cy="3880773"/>
          </a:xfrm>
        </p:spPr>
        <p:txBody>
          <a:bodyPr>
            <a:normAutofit/>
          </a:bodyPr>
          <a:lstStyle/>
          <a:p>
            <a:pPr marL="0" indent="0">
              <a:lnSpc>
                <a:spcPct val="90000"/>
              </a:lnSpc>
              <a:buNone/>
            </a:pPr>
            <a:r>
              <a:rPr lang="en-US" sz="1400" b="1"/>
              <a:t>Definition</a:t>
            </a:r>
            <a:r>
              <a:rPr lang="en-US" sz="1400"/>
              <a:t>:  A project that has many designers involved but no unifying plan or vision.</a:t>
            </a:r>
          </a:p>
          <a:p>
            <a:pPr marL="0" indent="0">
              <a:lnSpc>
                <a:spcPct val="90000"/>
              </a:lnSpc>
              <a:buNone/>
            </a:pPr>
            <a:endParaRPr lang="en-US" sz="1400"/>
          </a:p>
          <a:p>
            <a:pPr marL="0" indent="0">
              <a:lnSpc>
                <a:spcPct val="90000"/>
              </a:lnSpc>
              <a:buNone/>
            </a:pPr>
            <a:r>
              <a:rPr lang="en-US" sz="1400" b="1"/>
              <a:t>Symptoms</a:t>
            </a:r>
            <a:r>
              <a:rPr lang="en-US" sz="1400"/>
              <a:t>:  Too many viewpoints.  Lots of back-and-forth.  Poor or divided leadership.  People with poor technical knowledge involved in tech design.  People with little business knowledge involved in business design.  Needless complexity.  Persistent lack of consensus.  Banality.</a:t>
            </a:r>
          </a:p>
          <a:p>
            <a:pPr marL="0" indent="0">
              <a:lnSpc>
                <a:spcPct val="90000"/>
              </a:lnSpc>
              <a:buNone/>
            </a:pPr>
            <a:endParaRPr lang="en-US" sz="1400"/>
          </a:p>
          <a:p>
            <a:pPr marL="0" indent="0">
              <a:lnSpc>
                <a:spcPct val="90000"/>
              </a:lnSpc>
              <a:buNone/>
            </a:pPr>
            <a:r>
              <a:rPr lang="en-US" sz="1400" b="1"/>
              <a:t>Solution</a:t>
            </a:r>
            <a:r>
              <a:rPr lang="en-US" sz="1400"/>
              <a:t>:  Business is a meritocracy, not a democracy. Designate a leader for each design project.  The leader should solicit any necessary input according to their leadership style, </a:t>
            </a:r>
            <a:r>
              <a:rPr lang="en-US" sz="1400" i="1"/>
              <a:t>then make a decision</a:t>
            </a:r>
            <a:r>
              <a:rPr lang="en-US" sz="1400"/>
              <a:t>.</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3152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1253067"/>
            <a:ext cx="6155266" cy="4351866"/>
          </a:xfrm>
        </p:spPr>
        <p:txBody>
          <a:bodyPr anchor="ctr">
            <a:normAutofit/>
          </a:bodyPr>
          <a:lstStyle/>
          <a:p>
            <a:pPr marL="0" indent="0">
              <a:lnSpc>
                <a:spcPct val="90000"/>
              </a:lnSpc>
              <a:buNone/>
            </a:pPr>
            <a:r>
              <a:rPr lang="en-US" b="1" dirty="0"/>
              <a:t>Definition</a:t>
            </a:r>
            <a:r>
              <a:rPr lang="en-US" dirty="0"/>
              <a:t>:  Failure to Revoke a Decision When it Proves Wrong.</a:t>
            </a:r>
            <a:endParaRPr lang="en-US"/>
          </a:p>
          <a:p>
            <a:pPr marL="0" indent="0">
              <a:lnSpc>
                <a:spcPct val="90000"/>
              </a:lnSpc>
              <a:buNone/>
            </a:pPr>
            <a:endParaRPr lang="en-US"/>
          </a:p>
          <a:p>
            <a:pPr marL="0" indent="0">
              <a:lnSpc>
                <a:spcPct val="90000"/>
              </a:lnSpc>
              <a:buNone/>
            </a:pPr>
            <a:r>
              <a:rPr lang="en-US" b="1" dirty="0"/>
              <a:t>Symptoms</a:t>
            </a:r>
            <a:r>
              <a:rPr lang="en-US" dirty="0"/>
              <a:t>:  The “</a:t>
            </a:r>
            <a:r>
              <a:rPr lang="en-US" dirty="0">
                <a:hlinkClick r:id="rId2"/>
              </a:rPr>
              <a:t>Sunk Cost Fallacy</a:t>
            </a:r>
            <a:r>
              <a:rPr lang="en-US" dirty="0"/>
              <a:t>” is in effect.  You are facing increasingly negative outcomes from some decision, action, or investment.  Nevertheless, you continue down the same path, furthering your investment and, therefore, your cost of correction.</a:t>
            </a:r>
            <a:endParaRPr lang="en-US"/>
          </a:p>
          <a:p>
            <a:pPr marL="0" indent="0">
              <a:lnSpc>
                <a:spcPct val="90000"/>
              </a:lnSpc>
              <a:buNone/>
            </a:pPr>
            <a:endParaRPr lang="en-US"/>
          </a:p>
          <a:p>
            <a:pPr marL="0" indent="0">
              <a:lnSpc>
                <a:spcPct val="90000"/>
              </a:lnSpc>
              <a:buNone/>
            </a:pPr>
            <a:r>
              <a:rPr lang="en-US" b="1" dirty="0"/>
              <a:t>Solution</a:t>
            </a:r>
            <a:r>
              <a:rPr lang="en-US" dirty="0"/>
              <a:t>:  DETACH.  Discard emotional investment and make a deliberate, sound decision.  If immediate change is not possible, raise your concerns to project leadership.  Consider a parallel implementation instead of a replacement.</a:t>
            </a:r>
            <a:endParaRPr lang="en-US"/>
          </a:p>
        </p:txBody>
      </p:sp>
      <p:sp>
        <p:nvSpPr>
          <p:cNvPr id="19" name="Rectangle 18">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0"/>
            <a:ext cx="465734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21" name="Straight Connector 20">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590212" y="0"/>
            <a:ext cx="1059921"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21600" y="3721395"/>
            <a:ext cx="434556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7829658" y="1253067"/>
            <a:ext cx="3371742" cy="4351866"/>
          </a:xfrm>
        </p:spPr>
        <p:txBody>
          <a:bodyPr anchor="ctr">
            <a:normAutofit/>
          </a:bodyPr>
          <a:lstStyle/>
          <a:p>
            <a:r>
              <a:rPr lang="en-US">
                <a:solidFill>
                  <a:schemeClr val="bg1"/>
                </a:solidFill>
              </a:rPr>
              <a:t>Escalation of Commitment</a:t>
            </a:r>
          </a:p>
        </p:txBody>
      </p:sp>
    </p:spTree>
    <p:extLst>
      <p:ext uri="{BB962C8B-B14F-4D97-AF65-F5344CB8AC3E}">
        <p14:creationId xmlns:p14="http://schemas.microsoft.com/office/powerpoint/2010/main" val="420535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Seagull Management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300" b="1"/>
              <a:t>Definition</a:t>
            </a:r>
            <a:r>
              <a:rPr lang="en-US" sz="1300"/>
              <a:t>:  A manager who only interacts when there is a problem, flies in, makes a lot of noise, squawks at everyone, then flies out.</a:t>
            </a:r>
          </a:p>
          <a:p>
            <a:pPr marL="0" indent="0">
              <a:lnSpc>
                <a:spcPct val="90000"/>
              </a:lnSpc>
              <a:buNone/>
            </a:pPr>
            <a:endParaRPr lang="en-US" sz="1300"/>
          </a:p>
          <a:p>
            <a:pPr marL="0" indent="0">
              <a:lnSpc>
                <a:spcPct val="90000"/>
              </a:lnSpc>
              <a:buNone/>
            </a:pPr>
            <a:r>
              <a:rPr lang="en-US" sz="1300" b="1"/>
              <a:t>Symptoms</a:t>
            </a:r>
            <a:r>
              <a:rPr lang="en-US" sz="1300"/>
              <a:t>: Your manager makes hasty decisions about things they have little understanding of.  This results in messy situations you must clean up.</a:t>
            </a:r>
          </a:p>
          <a:p>
            <a:pPr marL="0" indent="0">
              <a:lnSpc>
                <a:spcPct val="90000"/>
              </a:lnSpc>
              <a:buNone/>
            </a:pPr>
            <a:endParaRPr lang="en-US" sz="1300"/>
          </a:p>
          <a:p>
            <a:pPr marL="0" indent="0">
              <a:lnSpc>
                <a:spcPct val="90000"/>
              </a:lnSpc>
              <a:buNone/>
            </a:pPr>
            <a:r>
              <a:rPr lang="en-US" sz="1300" b="1"/>
              <a:t>Solution</a:t>
            </a:r>
            <a:r>
              <a:rPr lang="en-US" sz="1300"/>
              <a:t>:  Manage upwards. Ensure they have the necessary information, even if doing so is uncomfortable. Exercise patience. Remember, nobody can make decisions with information they don’t have.  Be proactive; anticipate problems and deal with them before your boss notices.  When you need a decision, take your boss the information they need </a:t>
            </a:r>
            <a:r>
              <a:rPr lang="en-US" sz="1300" i="1"/>
              <a:t>before</a:t>
            </a:r>
            <a:r>
              <a:rPr lang="en-US" sz="1300"/>
              <a:t> they come screaming into the conference room.</a:t>
            </a:r>
          </a:p>
        </p:txBody>
      </p:sp>
      <p:pic>
        <p:nvPicPr>
          <p:cNvPr id="5" name="Picture 4" descr="Two pigeons flying in the blue sky">
            <a:extLst>
              <a:ext uri="{FF2B5EF4-FFF2-40B4-BE49-F238E27FC236}">
                <a16:creationId xmlns:a16="http://schemas.microsoft.com/office/drawing/2014/main" id="{B5670F53-0818-D2AE-215E-FB0BF7240220}"/>
              </a:ext>
            </a:extLst>
          </p:cNvPr>
          <p:cNvPicPr>
            <a:picLocks noChangeAspect="1"/>
          </p:cNvPicPr>
          <p:nvPr/>
        </p:nvPicPr>
        <p:blipFill>
          <a:blip r:embed="rId2"/>
          <a:srcRect l="46844" r="645"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2823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dirty="0"/>
              <a:t>Typecasting, or “The Expert’s Curse.”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buNone/>
            </a:pPr>
            <a:r>
              <a:rPr lang="en-US" b="1" dirty="0"/>
              <a:t>Definition</a:t>
            </a:r>
            <a:r>
              <a:rPr lang="en-US" dirty="0"/>
              <a:t>:  Locking successful employees into narrowly-defined roles based on their past successes instead of their potential.</a:t>
            </a:r>
          </a:p>
          <a:p>
            <a:pPr marL="0" indent="0">
              <a:buNone/>
            </a:pPr>
            <a:endParaRPr lang="en-US" dirty="0"/>
          </a:p>
          <a:p>
            <a:pPr marL="0" indent="0">
              <a:buNone/>
            </a:pPr>
            <a:r>
              <a:rPr lang="en-US" b="1" dirty="0"/>
              <a:t>Symptoms</a:t>
            </a:r>
            <a:r>
              <a:rPr lang="en-US" dirty="0"/>
              <a:t>:  A person becomes so strongly identified with their job or role that it becomes difficult to transition to other roles, including those which may better benefit the organization.</a:t>
            </a:r>
          </a:p>
          <a:p>
            <a:pPr marL="0" indent="0">
              <a:buNone/>
            </a:pPr>
            <a:endParaRPr lang="en-US" dirty="0"/>
          </a:p>
          <a:p>
            <a:pPr marL="0" indent="0">
              <a:buNone/>
            </a:pPr>
            <a:r>
              <a:rPr lang="en-US" b="1" dirty="0"/>
              <a:t>Solution</a:t>
            </a:r>
            <a:r>
              <a:rPr lang="en-US" dirty="0"/>
              <a:t>:  Make sure that you make your career or project goals known to others.  If you know you are good at something, participate in that activity.  Block time on your calendar if necessary.  This is </a:t>
            </a:r>
            <a:r>
              <a:rPr lang="en-US" i="1" dirty="0"/>
              <a:t>particularly</a:t>
            </a:r>
            <a:r>
              <a:rPr lang="en-US" dirty="0"/>
              <a:t> effective for those wanting to transition into a design or architectural role.</a:t>
            </a:r>
          </a:p>
        </p:txBody>
      </p:sp>
    </p:spTree>
    <p:extLst>
      <p:ext uri="{BB962C8B-B14F-4D97-AF65-F5344CB8AC3E}">
        <p14:creationId xmlns:p14="http://schemas.microsoft.com/office/powerpoint/2010/main" val="33065883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ful carved figures of humans">
            <a:extLst>
              <a:ext uri="{FF2B5EF4-FFF2-40B4-BE49-F238E27FC236}">
                <a16:creationId xmlns:a16="http://schemas.microsoft.com/office/drawing/2014/main" id="{0DFACBFF-1E16-E709-8454-79429E92E03C}"/>
              </a:ext>
            </a:extLst>
          </p:cNvPr>
          <p:cNvPicPr>
            <a:picLocks noChangeAspect="1"/>
          </p:cNvPicPr>
          <p:nvPr/>
        </p:nvPicPr>
        <p:blipFill>
          <a:blip r:embed="rId2">
            <a:duotone>
              <a:prstClr val="black"/>
              <a:schemeClr val="tx2">
                <a:tint val="45000"/>
                <a:satMod val="400000"/>
              </a:schemeClr>
            </a:duotone>
            <a:alphaModFix amt="40000"/>
          </a:blip>
          <a:srcRect t="21053"/>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dirty="0"/>
              <a:t>The Death March</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lnSpc>
                <a:spcPct val="90000"/>
              </a:lnSpc>
              <a:buNone/>
            </a:pPr>
            <a:r>
              <a:rPr lang="en-US" sz="1400" b="1">
                <a:solidFill>
                  <a:srgbClr val="FFFFFF"/>
                </a:solidFill>
              </a:rPr>
              <a:t>Definition</a:t>
            </a:r>
            <a:r>
              <a:rPr lang="en-US" sz="1400">
                <a:solidFill>
                  <a:srgbClr val="FFFFFF"/>
                </a:solidFill>
              </a:rPr>
              <a:t>:  An effort whose staff, while expecting to fail, are compelled to continue, often with much overwork, enforced by management which is in denial.</a:t>
            </a:r>
          </a:p>
          <a:p>
            <a:pPr marL="0" indent="0">
              <a:lnSpc>
                <a:spcPct val="90000"/>
              </a:lnSpc>
              <a:buNone/>
            </a:pPr>
            <a:endParaRPr lang="en-US" sz="1400">
              <a:solidFill>
                <a:srgbClr val="FFFFFF"/>
              </a:solidFill>
            </a:endParaRPr>
          </a:p>
          <a:p>
            <a:pPr marL="0" indent="0">
              <a:lnSpc>
                <a:spcPct val="90000"/>
              </a:lnSpc>
              <a:buNone/>
            </a:pPr>
            <a:r>
              <a:rPr lang="en-US" sz="1400" b="1">
                <a:solidFill>
                  <a:srgbClr val="FFFFFF"/>
                </a:solidFill>
              </a:rPr>
              <a:t>Symptoms</a:t>
            </a:r>
            <a:r>
              <a:rPr lang="en-US" sz="1400">
                <a:solidFill>
                  <a:srgbClr val="FFFFFF"/>
                </a:solidFill>
              </a:rPr>
              <a:t>:  There is </a:t>
            </a:r>
            <a:r>
              <a:rPr lang="en-US" sz="1400" i="1">
                <a:solidFill>
                  <a:srgbClr val="FFFFFF"/>
                </a:solidFill>
              </a:rPr>
              <a:t>consensus</a:t>
            </a:r>
            <a:r>
              <a:rPr lang="en-US" sz="1400">
                <a:solidFill>
                  <a:srgbClr val="FFFFFF"/>
                </a:solidFill>
              </a:rPr>
              <a:t> among the teams members.  Everyone knows in their heart they are destined to fail.  Yet management refuses to accept the obvious, and continues to crack the whip.</a:t>
            </a:r>
          </a:p>
          <a:p>
            <a:pPr marL="0" indent="0">
              <a:lnSpc>
                <a:spcPct val="90000"/>
              </a:lnSpc>
              <a:buNone/>
            </a:pPr>
            <a:endParaRPr lang="en-US" sz="1400">
              <a:solidFill>
                <a:srgbClr val="FFFFFF"/>
              </a:solidFill>
            </a:endParaRPr>
          </a:p>
          <a:p>
            <a:pPr marL="0" indent="0">
              <a:lnSpc>
                <a:spcPct val="90000"/>
              </a:lnSpc>
              <a:buNone/>
            </a:pPr>
            <a:r>
              <a:rPr lang="en-US" sz="1400" b="1">
                <a:solidFill>
                  <a:srgbClr val="FFFFFF"/>
                </a:solidFill>
              </a:rPr>
              <a:t>Discussion Point</a:t>
            </a:r>
            <a:r>
              <a:rPr lang="en-US" sz="1400">
                <a:solidFill>
                  <a:srgbClr val="FFFFFF"/>
                </a:solidFill>
              </a:rPr>
              <a:t>:  Operating on the edge – how do you draw the line between maximum team performance and a death march?</a:t>
            </a:r>
          </a:p>
          <a:p>
            <a:pPr marL="0" indent="0">
              <a:lnSpc>
                <a:spcPct val="90000"/>
              </a:lnSpc>
              <a:buNone/>
            </a:pPr>
            <a:endParaRPr lang="en-US" sz="1400">
              <a:solidFill>
                <a:srgbClr val="FFFFFF"/>
              </a:solidFill>
            </a:endParaRPr>
          </a:p>
          <a:p>
            <a:pPr marL="0" indent="0">
              <a:lnSpc>
                <a:spcPct val="90000"/>
              </a:lnSpc>
              <a:buNone/>
            </a:pPr>
            <a:r>
              <a:rPr lang="en-US" sz="1400" b="1">
                <a:solidFill>
                  <a:srgbClr val="FFFFFF"/>
                </a:solidFill>
              </a:rPr>
              <a:t>Discussion Point</a:t>
            </a:r>
            <a:r>
              <a:rPr lang="en-US" sz="1400">
                <a:solidFill>
                  <a:srgbClr val="FFFFFF"/>
                </a:solidFill>
              </a:rPr>
              <a:t>:  What are some of the risks of continuing this behavior?</a:t>
            </a:r>
          </a:p>
          <a:p>
            <a:pPr marL="0" indent="0">
              <a:lnSpc>
                <a:spcPct val="90000"/>
              </a:lnSpc>
              <a:buNone/>
            </a:pPr>
            <a:endParaRPr lang="en-US" sz="1400">
              <a:solidFill>
                <a:srgbClr val="FFFFFF"/>
              </a:solidFill>
            </a:endParaRPr>
          </a:p>
          <a:p>
            <a:pPr marL="0" indent="0">
              <a:lnSpc>
                <a:spcPct val="90000"/>
              </a:lnSpc>
              <a:buNone/>
            </a:pPr>
            <a:r>
              <a:rPr lang="en-US" sz="1400" b="1">
                <a:solidFill>
                  <a:srgbClr val="FFFFFF"/>
                </a:solidFill>
              </a:rPr>
              <a:t>Solution</a:t>
            </a:r>
            <a:r>
              <a:rPr lang="en-US" sz="1400">
                <a:solidFill>
                  <a:srgbClr val="FFFFFF"/>
                </a:solidFill>
              </a:rPr>
              <a:t>:  Learn from your mistakes.  It doesn’t have to be this way, but you have to be proactive.  Do not abandon a team that has made this mistake in the past.  If you have the guts, stick around and lead.  </a:t>
            </a:r>
            <a:r>
              <a:rPr lang="en-US" sz="1400" i="1">
                <a:solidFill>
                  <a:srgbClr val="FFFFFF"/>
                </a:solidFill>
              </a:rPr>
              <a:t>Change the world you are in</a:t>
            </a:r>
            <a:r>
              <a:rPr lang="en-US" sz="1400">
                <a:solidFill>
                  <a:srgbClr val="FFFFFF"/>
                </a:solidFill>
              </a:rPr>
              <a:t>.</a:t>
            </a:r>
          </a:p>
        </p:txBody>
      </p:sp>
    </p:spTree>
    <p:extLst>
      <p:ext uri="{BB962C8B-B14F-4D97-AF65-F5344CB8AC3E}">
        <p14:creationId xmlns:p14="http://schemas.microsoft.com/office/powerpoint/2010/main" val="349370084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43467" y="816638"/>
            <a:ext cx="3367359" cy="5224724"/>
          </a:xfrm>
        </p:spPr>
        <p:txBody>
          <a:bodyPr anchor="ctr">
            <a:normAutofit/>
          </a:bodyPr>
          <a:lstStyle/>
          <a:p>
            <a:r>
              <a:rPr lang="en-US" dirty="0"/>
              <a:t>Scope Creep</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4654295" y="816638"/>
            <a:ext cx="4619706" cy="5224724"/>
          </a:xfrm>
        </p:spPr>
        <p:txBody>
          <a:bodyPr anchor="ctr">
            <a:normAutofit/>
          </a:bodyPr>
          <a:lstStyle/>
          <a:p>
            <a:pPr marL="0" indent="0">
              <a:lnSpc>
                <a:spcPct val="90000"/>
              </a:lnSpc>
              <a:buNone/>
            </a:pPr>
            <a:r>
              <a:rPr lang="en-US" sz="1500" b="1"/>
              <a:t>Definition</a:t>
            </a:r>
            <a:r>
              <a:rPr lang="en-US" sz="1500"/>
              <a:t>:  Uncontrolled changes or continual growth in a project’s scope.  Also adding features after the original requirements have been accepted.</a:t>
            </a:r>
          </a:p>
          <a:p>
            <a:pPr marL="0" indent="0">
              <a:lnSpc>
                <a:spcPct val="90000"/>
              </a:lnSpc>
              <a:buNone/>
            </a:pPr>
            <a:endParaRPr lang="en-US" sz="1500"/>
          </a:p>
          <a:p>
            <a:pPr marL="0" indent="0">
              <a:lnSpc>
                <a:spcPct val="90000"/>
              </a:lnSpc>
              <a:buNone/>
            </a:pPr>
            <a:r>
              <a:rPr lang="en-US" sz="1500" b="1"/>
              <a:t>Symptoms</a:t>
            </a:r>
            <a:r>
              <a:rPr lang="en-US" sz="1500"/>
              <a:t>:  Poorly understood features exist in the backlog.  These features will </a:t>
            </a:r>
            <a:r>
              <a:rPr lang="en-US" sz="1500" i="1"/>
              <a:t>always</a:t>
            </a:r>
            <a:r>
              <a:rPr lang="en-US" sz="1500"/>
              <a:t> grow in scope and complexity.  They will </a:t>
            </a:r>
            <a:r>
              <a:rPr lang="en-US" sz="1500" i="1"/>
              <a:t>never</a:t>
            </a:r>
            <a:r>
              <a:rPr lang="en-US" sz="1500"/>
              <a:t> diminish.  New concerns arise in a demonstration after the original requirements are fulfilled.</a:t>
            </a:r>
          </a:p>
          <a:p>
            <a:pPr marL="0" indent="0">
              <a:lnSpc>
                <a:spcPct val="90000"/>
              </a:lnSpc>
              <a:buNone/>
            </a:pPr>
            <a:endParaRPr lang="en-US" sz="1500"/>
          </a:p>
          <a:p>
            <a:pPr marL="0" indent="0">
              <a:lnSpc>
                <a:spcPct val="90000"/>
              </a:lnSpc>
              <a:buNone/>
            </a:pPr>
            <a:r>
              <a:rPr lang="en-US" sz="1500" b="1"/>
              <a:t>Solution</a:t>
            </a:r>
            <a:r>
              <a:rPr lang="en-US" sz="1500"/>
              <a:t>:  The causes of this are known entities.  Recognize and call them out.  Be </a:t>
            </a:r>
            <a:r>
              <a:rPr lang="en-US" sz="1500" i="1"/>
              <a:t>super</a:t>
            </a:r>
            <a:r>
              <a:rPr lang="en-US" sz="1500"/>
              <a:t> aggressive about making sure that business design is done thoroughly.  Do anything and everything you can before you go to code.  Whiteboard.  Ask questions.  Call out fear, uncertainty, and doubt (FUD).  Do design work.  If the situation becomes unavoidable, make sure leadership knows about the additional work so that compensation can be made.</a:t>
            </a:r>
          </a:p>
        </p:txBody>
      </p:sp>
    </p:spTree>
    <p:extLst>
      <p:ext uri="{BB962C8B-B14F-4D97-AF65-F5344CB8AC3E}">
        <p14:creationId xmlns:p14="http://schemas.microsoft.com/office/powerpoint/2010/main" val="272951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1333502" y="609600"/>
            <a:ext cx="8596668" cy="1320800"/>
          </a:xfrm>
        </p:spPr>
        <p:txBody>
          <a:bodyPr>
            <a:normAutofit/>
          </a:bodyPr>
          <a:lstStyle/>
          <a:p>
            <a:pPr>
              <a:lnSpc>
                <a:spcPct val="90000"/>
              </a:lnSpc>
            </a:pPr>
            <a:r>
              <a:rPr lang="en-US" sz="3100"/>
              <a:t>Brooks’ Law</a:t>
            </a:r>
            <a:br>
              <a:rPr lang="en-US" sz="3100"/>
            </a:br>
            <a:r>
              <a:rPr lang="en-US" sz="3100"/>
              <a:t>From:  The Mythical Man-Month by Fred Brooks</a:t>
            </a:r>
          </a:p>
        </p:txBody>
      </p:sp>
      <p:sp>
        <p:nvSpPr>
          <p:cNvPr id="11" name="Isosceles Triangle 10">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3">
            <a:extLst>
              <a:ext uri="{FF2B5EF4-FFF2-40B4-BE49-F238E27FC236}">
                <a16:creationId xmlns:a16="http://schemas.microsoft.com/office/drawing/2014/main" id="{E4ACFB90-C3F1-4F19-96CB-7190980643F6}"/>
              </a:ext>
            </a:extLst>
          </p:cNvPr>
          <p:cNvSpPr>
            <a:spLocks noGrp="1"/>
          </p:cNvSpPr>
          <p:nvPr>
            <p:ph type="ftr" sz="quarter" idx="11"/>
          </p:nvPr>
        </p:nvSpPr>
        <p:spPr>
          <a:xfrm>
            <a:off x="1333502" y="6041362"/>
            <a:ext cx="5641444" cy="365125"/>
          </a:xfrm>
        </p:spPr>
        <p:txBody>
          <a:bodyPr>
            <a:normAutofit/>
          </a:bodyPr>
          <a:lstStyle/>
          <a:p>
            <a:pPr>
              <a:spcAft>
                <a:spcPts val="600"/>
              </a:spcAft>
            </a:pPr>
            <a:r>
              <a:rPr lang="en-US" baseline="30000" dirty="0"/>
              <a:t>1</a:t>
            </a:r>
            <a:r>
              <a:rPr lang="en-US" dirty="0"/>
              <a:t> Only applies to projects that are already behind.</a:t>
            </a:r>
            <a:endParaRPr lang="en-US"/>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1333502" y="2160589"/>
            <a:ext cx="8596668" cy="3880773"/>
          </a:xfrm>
        </p:spPr>
        <p:txBody>
          <a:bodyPr>
            <a:normAutofit/>
          </a:bodyPr>
          <a:lstStyle/>
          <a:p>
            <a:pPr marL="0" indent="0">
              <a:lnSpc>
                <a:spcPct val="90000"/>
              </a:lnSpc>
              <a:buNone/>
            </a:pPr>
            <a:r>
              <a:rPr lang="en-US" b="1" dirty="0"/>
              <a:t>Definition</a:t>
            </a:r>
            <a:r>
              <a:rPr lang="en-US" dirty="0"/>
              <a:t>:  In an attempt to increase velocity, resources are added to a project</a:t>
            </a:r>
            <a:r>
              <a:rPr lang="en-US" baseline="30000" dirty="0"/>
              <a:t>1</a:t>
            </a:r>
            <a:r>
              <a:rPr lang="en-US" dirty="0"/>
              <a:t> when the project is already crippled by management overhead.</a:t>
            </a:r>
            <a:endParaRPr lang="en-US"/>
          </a:p>
          <a:p>
            <a:pPr marL="0" indent="0">
              <a:lnSpc>
                <a:spcPct val="90000"/>
              </a:lnSpc>
              <a:buNone/>
            </a:pPr>
            <a:endParaRPr lang="en-US"/>
          </a:p>
          <a:p>
            <a:pPr marL="0" indent="0">
              <a:lnSpc>
                <a:spcPct val="90000"/>
              </a:lnSpc>
              <a:buNone/>
            </a:pPr>
            <a:r>
              <a:rPr lang="en-US" b="1" dirty="0"/>
              <a:t>Symptoms</a:t>
            </a:r>
            <a:r>
              <a:rPr lang="en-US" dirty="0"/>
              <a:t>:  Existing members are still not productive, fully integrated with the culture, or “in the know,” but are being asked to refer, interview, train and integrate new team members.</a:t>
            </a:r>
            <a:endParaRPr lang="en-US"/>
          </a:p>
          <a:p>
            <a:pPr marL="0" indent="0">
              <a:lnSpc>
                <a:spcPct val="90000"/>
              </a:lnSpc>
              <a:buNone/>
            </a:pPr>
            <a:endParaRPr lang="en-US"/>
          </a:p>
          <a:p>
            <a:pPr marL="0" indent="0">
              <a:lnSpc>
                <a:spcPct val="90000"/>
              </a:lnSpc>
              <a:buNone/>
            </a:pPr>
            <a:r>
              <a:rPr lang="en-US" b="1" dirty="0"/>
              <a:t>Solution</a:t>
            </a:r>
            <a:r>
              <a:rPr lang="en-US" dirty="0"/>
              <a:t>:  Resource projects early in the process.  Determine if the project is really late, or if the original schedule was too optimistic.  The quality and role of people added must be taken into account over their quantity.  Add team members slowly and deliberately, allowing each small group time to “gel” before adding members again.</a:t>
            </a:r>
            <a:endParaRPr lang="en-US"/>
          </a:p>
        </p:txBody>
      </p:sp>
      <p:sp>
        <p:nvSpPr>
          <p:cNvPr id="13" name="Isosceles Triangle 12">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04753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a:xfrm>
            <a:off x="5536734" y="609600"/>
            <a:ext cx="3737268" cy="1320800"/>
          </a:xfrm>
        </p:spPr>
        <p:txBody>
          <a:bodyPr>
            <a:normAutofit/>
          </a:bodyPr>
          <a:lstStyle/>
          <a:p>
            <a:r>
              <a:rPr lang="en-US" dirty="0"/>
              <a:t>Tester-Driven Development</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300" b="1"/>
              <a:t>Definition</a:t>
            </a:r>
            <a:r>
              <a:rPr lang="en-US" sz="1300"/>
              <a:t>:  A situation in which new requirements are specified in bug reports.</a:t>
            </a:r>
          </a:p>
          <a:p>
            <a:pPr marL="0" indent="0">
              <a:lnSpc>
                <a:spcPct val="90000"/>
              </a:lnSpc>
              <a:buNone/>
            </a:pPr>
            <a:endParaRPr lang="en-US" sz="1300"/>
          </a:p>
          <a:p>
            <a:pPr marL="0" indent="0">
              <a:lnSpc>
                <a:spcPct val="90000"/>
              </a:lnSpc>
              <a:buNone/>
            </a:pPr>
            <a:r>
              <a:rPr lang="en-US" sz="1300" b="1"/>
              <a:t>Symptoms</a:t>
            </a:r>
            <a:r>
              <a:rPr lang="en-US" sz="1300"/>
              <a:t>:  Your feature meets the original requirements, but is found lacking through no fault of your own.  For whatever reason (politics, carelessness, callousness, laziness) these shortcomings in requirements are reported as bugs instead of new requirements.</a:t>
            </a:r>
          </a:p>
          <a:p>
            <a:pPr marL="0" indent="0">
              <a:lnSpc>
                <a:spcPct val="90000"/>
              </a:lnSpc>
              <a:buNone/>
            </a:pPr>
            <a:endParaRPr lang="en-US" sz="1300"/>
          </a:p>
          <a:p>
            <a:pPr marL="0" indent="0">
              <a:lnSpc>
                <a:spcPct val="90000"/>
              </a:lnSpc>
              <a:buNone/>
            </a:pPr>
            <a:r>
              <a:rPr lang="en-US" sz="1300" b="1"/>
              <a:t>Discussion Point</a:t>
            </a:r>
            <a:r>
              <a:rPr lang="en-US" sz="1300"/>
              <a:t>: New requirements are </a:t>
            </a:r>
            <a:r>
              <a:rPr lang="en-US" sz="1300" i="1"/>
              <a:t>not</a:t>
            </a:r>
            <a:r>
              <a:rPr lang="en-US" sz="1300"/>
              <a:t> bugs, and teams that run this way are in for all kinds of problems, especially with morale.</a:t>
            </a:r>
          </a:p>
          <a:p>
            <a:pPr marL="0" indent="0">
              <a:lnSpc>
                <a:spcPct val="90000"/>
              </a:lnSpc>
              <a:buNone/>
            </a:pPr>
            <a:endParaRPr lang="en-US" sz="1300"/>
          </a:p>
          <a:p>
            <a:pPr marL="0" indent="0">
              <a:lnSpc>
                <a:spcPct val="90000"/>
              </a:lnSpc>
              <a:buNone/>
            </a:pPr>
            <a:r>
              <a:rPr lang="en-US" sz="1300" b="1"/>
              <a:t>Solution</a:t>
            </a:r>
            <a:r>
              <a:rPr lang="en-US" sz="1300"/>
              <a:t>: Stand up for yourself.  Insist that work be filed correctly.</a:t>
            </a:r>
          </a:p>
        </p:txBody>
      </p:sp>
      <p:pic>
        <p:nvPicPr>
          <p:cNvPr id="5" name="Picture 4" descr="Pen placed on top of a signature line">
            <a:extLst>
              <a:ext uri="{FF2B5EF4-FFF2-40B4-BE49-F238E27FC236}">
                <a16:creationId xmlns:a16="http://schemas.microsoft.com/office/drawing/2014/main" id="{00FC6354-E994-85DB-305A-95255E59AD2D}"/>
              </a:ext>
            </a:extLst>
          </p:cNvPr>
          <p:cNvPicPr>
            <a:picLocks noChangeAspect="1"/>
          </p:cNvPicPr>
          <p:nvPr/>
        </p:nvPicPr>
        <p:blipFill>
          <a:blip r:embed="rId2"/>
          <a:srcRect l="47491" r="-2"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7429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599"/>
            <a:ext cx="3843375" cy="5545667"/>
          </a:xfrm>
        </p:spPr>
        <p:txBody>
          <a:bodyPr anchor="ctr">
            <a:normAutofit/>
          </a:bodyPr>
          <a:lstStyle/>
          <a:p>
            <a:r>
              <a:rPr lang="en-US">
                <a:solidFill>
                  <a:schemeClr val="tx1">
                    <a:lumMod val="85000"/>
                    <a:lumOff val="15000"/>
                  </a:schemeClr>
                </a:solidFill>
              </a:rPr>
              <a:t>Resume-Driven Development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116084" y="609600"/>
            <a:ext cx="5511296" cy="5545667"/>
          </a:xfrm>
        </p:spPr>
        <p:txBody>
          <a:bodyPr anchor="ctr">
            <a:normAutofit/>
          </a:bodyPr>
          <a:lstStyle/>
          <a:p>
            <a:pPr marL="0" indent="0">
              <a:buNone/>
            </a:pPr>
            <a:r>
              <a:rPr lang="en-US" b="1">
                <a:solidFill>
                  <a:srgbClr val="FFFFFF"/>
                </a:solidFill>
              </a:rPr>
              <a:t>Definition</a:t>
            </a:r>
            <a:r>
              <a:rPr lang="en-US">
                <a:solidFill>
                  <a:srgbClr val="FFFFFF"/>
                </a:solidFill>
              </a:rPr>
              <a:t>:  Tooling and architecture chosen for the leader's next role rather than the current problem.</a:t>
            </a:r>
          </a:p>
          <a:p>
            <a:pPr marL="0" indent="0">
              <a:buNone/>
            </a:pPr>
            <a:endParaRPr lang="en-US">
              <a:solidFill>
                <a:srgbClr val="FFFFFF"/>
              </a:solidFill>
            </a:endParaRPr>
          </a:p>
          <a:p>
            <a:pPr marL="0" indent="0">
              <a:buNone/>
            </a:pPr>
            <a:r>
              <a:rPr lang="en-US" b="1">
                <a:solidFill>
                  <a:srgbClr val="FFFFFF"/>
                </a:solidFill>
              </a:rPr>
              <a:t>Symptoms</a:t>
            </a:r>
            <a:r>
              <a:rPr lang="en-US">
                <a:solidFill>
                  <a:srgbClr val="FFFFFF"/>
                </a:solidFill>
              </a:rPr>
              <a:t>:  Strategic decisions are unaccompanied by a stated business reason.  The technology stack on the team's charter would look great on LinkedIn.  “We need to be on Kubernetes” arrives without a workload that justifies it.</a:t>
            </a:r>
          </a:p>
          <a:p>
            <a:pPr marL="0" indent="0">
              <a:buNone/>
            </a:pPr>
            <a:endParaRPr lang="en-US">
              <a:solidFill>
                <a:srgbClr val="FFFFFF"/>
              </a:solidFill>
            </a:endParaRPr>
          </a:p>
          <a:p>
            <a:pPr marL="0" indent="0">
              <a:buNone/>
            </a:pPr>
            <a:r>
              <a:rPr lang="en-US" b="1">
                <a:solidFill>
                  <a:srgbClr val="FFFFFF"/>
                </a:solidFill>
              </a:rPr>
              <a:t>Solution</a:t>
            </a:r>
            <a:r>
              <a:rPr lang="en-US">
                <a:solidFill>
                  <a:srgbClr val="FFFFFF"/>
                </a:solidFill>
              </a:rPr>
              <a:t>:  Force every adoption decision through a written justification:  the business problem, the alternatives considered, and the cost of reversal.  Separate “interesting” from “necessary.”  Build a culture where saying “not yet” to new tech is rewarded, not punished.</a:t>
            </a:r>
          </a:p>
        </p:txBody>
      </p:sp>
    </p:spTree>
    <p:extLst>
      <p:ext uri="{BB962C8B-B14F-4D97-AF65-F5344CB8AC3E}">
        <p14:creationId xmlns:p14="http://schemas.microsoft.com/office/powerpoint/2010/main" val="13498254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3A6A76-AE5D-49AE-9D49-90C0F1548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4DBF464-02EB-49E8-BED5-CCD9C0E092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1" name="Rectangle 23">
              <a:extLst>
                <a:ext uri="{FF2B5EF4-FFF2-40B4-BE49-F238E27FC236}">
                  <a16:creationId xmlns:a16="http://schemas.microsoft.com/office/drawing/2014/main" id="{5F9D5DC0-F10A-4613-AEEB-F3886E477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25">
              <a:extLst>
                <a:ext uri="{FF2B5EF4-FFF2-40B4-BE49-F238E27FC236}">
                  <a16:creationId xmlns:a16="http://schemas.microsoft.com/office/drawing/2014/main" id="{A43566CA-E28A-4758-B656-13F767ECA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9517B8F0-793D-4F61-80A8-8CB87BC08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D139FBAF-C134-4E1A-9404-4C7FB029E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9DE9C77E-3EF1-4718-818D-55EA1600B7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alpha val="70000"/>
                </a:srgbClr>
              </a:solidFill>
            </a:ln>
          </p:spPr>
          <p:style>
            <a:lnRef idx="2">
              <a:schemeClr val="accent1"/>
            </a:lnRef>
            <a:fillRef idx="0">
              <a:schemeClr val="accent1"/>
            </a:fillRef>
            <a:effectRef idx="1">
              <a:schemeClr val="accent1"/>
            </a:effectRef>
            <a:fontRef idx="minor">
              <a:schemeClr val="tx1"/>
            </a:fontRef>
          </p:style>
        </p:cxnSp>
        <p:sp>
          <p:nvSpPr>
            <p:cNvPr id="16" name="Rectangle 28">
              <a:extLst>
                <a:ext uri="{FF2B5EF4-FFF2-40B4-BE49-F238E27FC236}">
                  <a16:creationId xmlns:a16="http://schemas.microsoft.com/office/drawing/2014/main" id="{DB10DB84-C347-472C-96BD-AD4340F03D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70CA661F-8359-442A-A42C-A0993AF8B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8" name="Straight Connector 17">
              <a:extLst>
                <a:ext uri="{FF2B5EF4-FFF2-40B4-BE49-F238E27FC236}">
                  <a16:creationId xmlns:a16="http://schemas.microsoft.com/office/drawing/2014/main" id="{A75C8E99-F0B8-466B-A892-9E0643EAF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alpha val="70000"/>
                </a:srgbClr>
              </a:solidFill>
            </a:ln>
          </p:spPr>
          <p:style>
            <a:lnRef idx="2">
              <a:schemeClr val="accent1"/>
            </a:lnRef>
            <a:fillRef idx="0">
              <a:schemeClr val="accent1"/>
            </a:fillRef>
            <a:effectRef idx="1">
              <a:schemeClr val="accent1"/>
            </a:effectRef>
            <a:fontRef idx="minor">
              <a:schemeClr val="tx1"/>
            </a:fontRef>
          </p:style>
        </p:cxnSp>
        <p:sp>
          <p:nvSpPr>
            <p:cNvPr id="19" name="Isosceles Triangle 18">
              <a:extLst>
                <a:ext uri="{FF2B5EF4-FFF2-40B4-BE49-F238E27FC236}">
                  <a16:creationId xmlns:a16="http://schemas.microsoft.com/office/drawing/2014/main" id="{65DD307C-66C1-4F16-86F5-287334F7B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44416C0-DB16-4364-B13C-2EC6F1A8A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a:solidFill>
                  <a:srgbClr val="FFFFFF"/>
                </a:solidFill>
              </a:rPr>
              <a:t>Spotify Model Cargo Cult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buNone/>
            </a:pPr>
            <a:r>
              <a:rPr lang="en-US" b="1">
                <a:solidFill>
                  <a:srgbClr val="FFFFFF"/>
                </a:solidFill>
              </a:rPr>
              <a:t>Definition</a:t>
            </a:r>
            <a:r>
              <a:rPr lang="en-US">
                <a:solidFill>
                  <a:srgbClr val="FFFFFF"/>
                </a:solidFill>
              </a:rPr>
              <a:t>:  Adopting squads, tribes, chapters, and guilds wholesale from a 2012 whitepaper that Spotify itself has since moved past.</a:t>
            </a:r>
          </a:p>
          <a:p>
            <a:pPr marL="0" indent="0">
              <a:buNone/>
            </a:pPr>
            <a:endParaRPr lang="en-US">
              <a:solidFill>
                <a:srgbClr val="FFFFFF"/>
              </a:solidFill>
            </a:endParaRPr>
          </a:p>
          <a:p>
            <a:pPr marL="0" indent="0">
              <a:buNone/>
            </a:pPr>
            <a:r>
              <a:rPr lang="en-US" b="1">
                <a:solidFill>
                  <a:srgbClr val="FFFFFF"/>
                </a:solidFill>
              </a:rPr>
              <a:t>Symptoms</a:t>
            </a:r>
            <a:r>
              <a:rPr lang="en-US">
                <a:solidFill>
                  <a:srgbClr val="FFFFFF"/>
                </a:solidFill>
              </a:rPr>
              <a:t>:  Org structure is copied from a famous company without studying why it worked there.  Ceremony increases.  Outcomes do not.  Engineers cannot explain what a chapter does, only that they belong to one.</a:t>
            </a:r>
          </a:p>
          <a:p>
            <a:pPr marL="0" indent="0">
              <a:buNone/>
            </a:pPr>
            <a:endParaRPr lang="en-US">
              <a:solidFill>
                <a:srgbClr val="FFFFFF"/>
              </a:solidFill>
            </a:endParaRPr>
          </a:p>
          <a:p>
            <a:pPr marL="0" indent="0">
              <a:buNone/>
            </a:pPr>
            <a:r>
              <a:rPr lang="en-US" b="1">
                <a:solidFill>
                  <a:srgbClr val="FFFFFF"/>
                </a:solidFill>
              </a:rPr>
              <a:t>Solution</a:t>
            </a:r>
            <a:r>
              <a:rPr lang="en-US">
                <a:solidFill>
                  <a:srgbClr val="FFFFFF"/>
                </a:solidFill>
              </a:rPr>
              <a:t>:  Steal the principles, not the labels.  Decide what you are actually trying to optimize for — autonomy, alignment, throughput — and design the org around that.  If a structure does not survive the question “what changes if we remove it?” remove it.</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ubes connected with a red line">
            <a:extLst>
              <a:ext uri="{FF2B5EF4-FFF2-40B4-BE49-F238E27FC236}">
                <a16:creationId xmlns:a16="http://schemas.microsoft.com/office/drawing/2014/main" id="{11B0F286-29B0-309A-4D7C-5703B243A49E}"/>
              </a:ext>
            </a:extLst>
          </p:cNvPr>
          <p:cNvPicPr>
            <a:picLocks noChangeAspect="1"/>
          </p:cNvPicPr>
          <p:nvPr/>
        </p:nvPicPr>
        <p:blipFill>
          <a:blip r:embed="rId2"/>
          <a:srcRect l="11052" r="-1" b="-1"/>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3" y="609600"/>
            <a:ext cx="3851123" cy="1320800"/>
          </a:xfrm>
        </p:spPr>
        <p:txBody>
          <a:bodyPr>
            <a:normAutofit/>
          </a:bodyPr>
          <a:lstStyle/>
          <a:p>
            <a:r>
              <a:rPr lang="en-US" dirty="0"/>
              <a:t>Reorg-Driven Development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3851122" cy="3880773"/>
          </a:xfrm>
        </p:spPr>
        <p:txBody>
          <a:bodyPr>
            <a:normAutofit/>
          </a:bodyPr>
          <a:lstStyle/>
          <a:p>
            <a:pPr marL="0" indent="0">
              <a:lnSpc>
                <a:spcPct val="90000"/>
              </a:lnSpc>
              <a:buNone/>
            </a:pPr>
            <a:r>
              <a:rPr lang="en-US" sz="1400" b="1"/>
              <a:t>Definition</a:t>
            </a:r>
            <a:r>
              <a:rPr lang="en-US" sz="1400"/>
              <a:t>:  When leadership cannot solve the technical problem, they redraw the boxes on the org chart.  Repeatedly.</a:t>
            </a:r>
          </a:p>
          <a:p>
            <a:pPr marL="0" indent="0">
              <a:lnSpc>
                <a:spcPct val="90000"/>
              </a:lnSpc>
              <a:buNone/>
            </a:pPr>
            <a:endParaRPr lang="en-US" sz="1400"/>
          </a:p>
          <a:p>
            <a:pPr marL="0" indent="0">
              <a:lnSpc>
                <a:spcPct val="90000"/>
              </a:lnSpc>
              <a:buNone/>
            </a:pPr>
            <a:r>
              <a:rPr lang="en-US" sz="1400" b="1"/>
              <a:t>Symptoms</a:t>
            </a:r>
            <a:r>
              <a:rPr lang="en-US" sz="1400"/>
              <a:t>:  Solutions to engineering problems arrive in PowerPoint and never in code.  Reporting lines change faster than the systems they manage.  Team identity resets before any team gets good at anything.</a:t>
            </a:r>
          </a:p>
          <a:p>
            <a:pPr marL="0" indent="0">
              <a:lnSpc>
                <a:spcPct val="90000"/>
              </a:lnSpc>
              <a:buNone/>
            </a:pPr>
            <a:endParaRPr lang="en-US" sz="1400"/>
          </a:p>
          <a:p>
            <a:pPr marL="0" indent="0">
              <a:lnSpc>
                <a:spcPct val="90000"/>
              </a:lnSpc>
              <a:buNone/>
            </a:pPr>
            <a:r>
              <a:rPr lang="en-US" sz="1400" b="1"/>
              <a:t>Solution</a:t>
            </a:r>
            <a:r>
              <a:rPr lang="en-US" sz="1400"/>
              <a:t>:  Demand a written hypothesis before any reorg:  what is broken, why this structure fixes it, and how success will be measured.  Pair org changes with technical changes, not as a substitute for them.  Pairs well with Seagull Management.</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0"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Computer script on a screen">
            <a:extLst>
              <a:ext uri="{FF2B5EF4-FFF2-40B4-BE49-F238E27FC236}">
                <a16:creationId xmlns:a16="http://schemas.microsoft.com/office/drawing/2014/main" id="{A61DA960-2B89-26B2-B1F8-7143EB43E2CF}"/>
              </a:ext>
            </a:extLst>
          </p:cNvPr>
          <p:cNvPicPr>
            <a:picLocks noChangeAspect="1"/>
          </p:cNvPicPr>
          <p:nvPr/>
        </p:nvPicPr>
        <p:blipFill>
          <a:blip r:embed="rId2"/>
          <a:srcRect l="5366" r="42123"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D493D927-77EC-4551-94BC-A7ADD4F8A8E3}"/>
              </a:ext>
            </a:extLst>
          </p:cNvPr>
          <p:cNvSpPr>
            <a:spLocks noGrp="1"/>
          </p:cNvSpPr>
          <p:nvPr>
            <p:ph type="title"/>
          </p:nvPr>
        </p:nvSpPr>
        <p:spPr>
          <a:xfrm>
            <a:off x="5380563" y="1678665"/>
            <a:ext cx="3887839" cy="2372168"/>
          </a:xfrm>
        </p:spPr>
        <p:txBody>
          <a:bodyPr vert="horz" lIns="91440" tIns="45720" rIns="91440" bIns="45720" rtlCol="0" anchor="b">
            <a:normAutofit/>
          </a:bodyPr>
          <a:lstStyle/>
          <a:p>
            <a:pPr algn="r">
              <a:lnSpc>
                <a:spcPct val="90000"/>
              </a:lnSpc>
            </a:pPr>
            <a:r>
              <a:rPr lang="en-US" sz="5400"/>
              <a:t>Software Design Anti-Patterns</a:t>
            </a:r>
          </a:p>
        </p:txBody>
      </p:sp>
      <p:sp>
        <p:nvSpPr>
          <p:cNvPr id="3" name="Text Placeholder 2">
            <a:extLst>
              <a:ext uri="{FF2B5EF4-FFF2-40B4-BE49-F238E27FC236}">
                <a16:creationId xmlns:a16="http://schemas.microsoft.com/office/drawing/2014/main" id="{36B537E0-88E8-4E65-813D-D4CF7FFA0D00}"/>
              </a:ext>
            </a:extLst>
          </p:cNvPr>
          <p:cNvSpPr>
            <a:spLocks noGrp="1"/>
          </p:cNvSpPr>
          <p:nvPr>
            <p:ph type="body" idx="1"/>
          </p:nvPr>
        </p:nvSpPr>
        <p:spPr>
          <a:xfrm>
            <a:off x="5380563" y="4050833"/>
            <a:ext cx="3893440" cy="1096899"/>
          </a:xfrm>
        </p:spPr>
        <p:txBody>
          <a:bodyPr vert="horz" lIns="91440" tIns="45720" rIns="91440" bIns="45720" rtlCol="0" anchor="t">
            <a:normAutofit/>
          </a:bodyPr>
          <a:lstStyle/>
          <a:p>
            <a:pPr algn="r"/>
            <a:r>
              <a:rPr lang="en-US" sz="1800"/>
              <a:t>The wrong way to think about software </a:t>
            </a:r>
            <a:r>
              <a:rPr lang="en-US" sz="1800" i="1"/>
              <a:t>before</a:t>
            </a:r>
            <a:r>
              <a:rPr lang="en-US" sz="1800"/>
              <a:t> you code.</a:t>
            </a:r>
          </a:p>
        </p:txBody>
      </p:sp>
    </p:spTree>
    <p:extLst>
      <p:ext uri="{BB962C8B-B14F-4D97-AF65-F5344CB8AC3E}">
        <p14:creationId xmlns:p14="http://schemas.microsoft.com/office/powerpoint/2010/main" val="101580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Group Think</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500" b="1"/>
              <a:t>Definition</a:t>
            </a:r>
            <a:r>
              <a:rPr lang="en-US" sz="1500"/>
              <a:t>:  A collective state where members begin to (often unknowingly) think alike and reject differing viewpoints.</a:t>
            </a:r>
          </a:p>
          <a:p>
            <a:pPr marL="0" indent="0">
              <a:lnSpc>
                <a:spcPct val="90000"/>
              </a:lnSpc>
              <a:buNone/>
            </a:pPr>
            <a:endParaRPr lang="en-US" sz="1500"/>
          </a:p>
          <a:p>
            <a:pPr marL="0" indent="0">
              <a:lnSpc>
                <a:spcPct val="90000"/>
              </a:lnSpc>
              <a:buNone/>
            </a:pPr>
            <a:r>
              <a:rPr lang="en-US" sz="1500" b="1"/>
              <a:t>Symptoms</a:t>
            </a:r>
            <a:r>
              <a:rPr lang="en-US" sz="1500"/>
              <a:t>:  The desire for harmony and conformity outweighs the impetus to make rational decisions.  Consensus is reached very easily, even when the necessity of critical evaluation is necessary.</a:t>
            </a:r>
          </a:p>
          <a:p>
            <a:pPr marL="0" indent="0">
              <a:lnSpc>
                <a:spcPct val="90000"/>
              </a:lnSpc>
              <a:buNone/>
            </a:pPr>
            <a:endParaRPr lang="en-US" sz="1500"/>
          </a:p>
          <a:p>
            <a:pPr marL="0" indent="0">
              <a:lnSpc>
                <a:spcPct val="90000"/>
              </a:lnSpc>
              <a:buNone/>
            </a:pPr>
            <a:r>
              <a:rPr lang="en-US" sz="1500" b="1"/>
              <a:t>Solution</a:t>
            </a:r>
            <a:r>
              <a:rPr lang="en-US" sz="1500"/>
              <a:t>:  Assign a critical evaluator whose job it is to freely air objections and doubts.  Leaders should avoid expressing an opinion when critical evaluation is highly desirable.</a:t>
            </a:r>
          </a:p>
        </p:txBody>
      </p:sp>
      <p:pic>
        <p:nvPicPr>
          <p:cNvPr id="5" name="Picture 4" descr="Colorful carved figures of humans">
            <a:extLst>
              <a:ext uri="{FF2B5EF4-FFF2-40B4-BE49-F238E27FC236}">
                <a16:creationId xmlns:a16="http://schemas.microsoft.com/office/drawing/2014/main" id="{81BD9C1C-98AE-43D3-01BC-73888424DF9B}"/>
              </a:ext>
            </a:extLst>
          </p:cNvPr>
          <p:cNvPicPr>
            <a:picLocks noChangeAspect="1"/>
          </p:cNvPicPr>
          <p:nvPr/>
        </p:nvPicPr>
        <p:blipFill>
          <a:blip r:embed="rId2"/>
          <a:srcRect l="22091" r="21858" b="-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6973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3754" y="643467"/>
            <a:ext cx="4203045" cy="1375608"/>
          </a:xfrm>
        </p:spPr>
        <p:txBody>
          <a:bodyPr anchor="ctr">
            <a:normAutofit/>
          </a:bodyPr>
          <a:lstStyle/>
          <a:p>
            <a:pPr>
              <a:lnSpc>
                <a:spcPct val="90000"/>
              </a:lnSpc>
            </a:pPr>
            <a:r>
              <a:rPr lang="en-US" sz="3100" dirty="0">
                <a:solidFill>
                  <a:schemeClr val="bg1"/>
                </a:solidFill>
              </a:rPr>
              <a:t>That’s Not What I Would Do</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3754" y="2160590"/>
            <a:ext cx="3973943" cy="3440110"/>
          </a:xfrm>
        </p:spPr>
        <p:txBody>
          <a:bodyPr>
            <a:normAutofit/>
          </a:bodyPr>
          <a:lstStyle/>
          <a:p>
            <a:pPr marL="0" indent="0">
              <a:lnSpc>
                <a:spcPct val="90000"/>
              </a:lnSpc>
              <a:buNone/>
            </a:pPr>
            <a:r>
              <a:rPr lang="en-US" sz="1300" b="1">
                <a:solidFill>
                  <a:schemeClr val="bg1"/>
                </a:solidFill>
              </a:rPr>
              <a:t>Definition</a:t>
            </a:r>
            <a:r>
              <a:rPr lang="en-US" sz="1300">
                <a:solidFill>
                  <a:schemeClr val="bg1"/>
                </a:solidFill>
              </a:rPr>
              <a:t>:  A cognitive bias that involves preferring your own solution to a given problem over any other solution.</a:t>
            </a:r>
          </a:p>
          <a:p>
            <a:pPr marL="0" indent="0">
              <a:lnSpc>
                <a:spcPct val="90000"/>
              </a:lnSpc>
              <a:buNone/>
            </a:pPr>
            <a:endParaRPr lang="en-US" sz="1300">
              <a:solidFill>
                <a:schemeClr val="bg1"/>
              </a:solidFill>
            </a:endParaRPr>
          </a:p>
          <a:p>
            <a:pPr marL="0" indent="0">
              <a:lnSpc>
                <a:spcPct val="90000"/>
              </a:lnSpc>
              <a:buNone/>
            </a:pPr>
            <a:r>
              <a:rPr lang="en-US" sz="1300" b="1">
                <a:solidFill>
                  <a:schemeClr val="bg1"/>
                </a:solidFill>
              </a:rPr>
              <a:t>Symptoms</a:t>
            </a:r>
            <a:r>
              <a:rPr lang="en-US" sz="1300">
                <a:solidFill>
                  <a:schemeClr val="bg1"/>
                </a:solidFill>
              </a:rPr>
              <a:t>:  You are in a design or coding session and are thinking up arguments against someone else’s solution, rather than asking questions to make sure you understand it.</a:t>
            </a:r>
          </a:p>
          <a:p>
            <a:pPr marL="0" indent="0">
              <a:lnSpc>
                <a:spcPct val="90000"/>
              </a:lnSpc>
              <a:buNone/>
            </a:pPr>
            <a:endParaRPr lang="en-US" sz="1300">
              <a:solidFill>
                <a:schemeClr val="bg1"/>
              </a:solidFill>
            </a:endParaRPr>
          </a:p>
          <a:p>
            <a:pPr marL="0" indent="0">
              <a:lnSpc>
                <a:spcPct val="90000"/>
              </a:lnSpc>
              <a:buNone/>
            </a:pPr>
            <a:r>
              <a:rPr lang="en-US" sz="1300" b="1">
                <a:solidFill>
                  <a:schemeClr val="bg1"/>
                </a:solidFill>
              </a:rPr>
              <a:t>Solution</a:t>
            </a:r>
            <a:r>
              <a:rPr lang="en-US" sz="1300">
                <a:solidFill>
                  <a:schemeClr val="bg1"/>
                </a:solidFill>
              </a:rPr>
              <a:t>:  Keep an open mind, and respect others enough to understand their solutions before proposing your own.  Keep “good enough” in mind.  A less than ideal solution today often trumps a clever or perfect one tomorrow.</a:t>
            </a:r>
          </a:p>
        </p:txBody>
      </p:sp>
      <p:pic>
        <p:nvPicPr>
          <p:cNvPr id="33" name="Graphic 32" descr="Head with Gears">
            <a:extLst>
              <a:ext uri="{FF2B5EF4-FFF2-40B4-BE49-F238E27FC236}">
                <a16:creationId xmlns:a16="http://schemas.microsoft.com/office/drawing/2014/main" id="{4036901F-092E-4C67-01E4-87B8A1015E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17616" y="972608"/>
            <a:ext cx="4900269" cy="4900269"/>
          </a:xfrm>
          <a:prstGeom prst="rect">
            <a:avLst/>
          </a:prstGeom>
        </p:spPr>
      </p:pic>
      <p:sp>
        <p:nvSpPr>
          <p:cNvPr id="34" name="Isosceles Triangle 3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28438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a:t>Abstraction Inversion</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500" b="1"/>
              <a:t>Definition</a:t>
            </a:r>
            <a:r>
              <a:rPr lang="en-US" sz="1500"/>
              <a:t>:  When users of a construct need functions implemented within, but not exposed by its interface.</a:t>
            </a:r>
          </a:p>
          <a:p>
            <a:pPr marL="0" indent="0">
              <a:lnSpc>
                <a:spcPct val="90000"/>
              </a:lnSpc>
              <a:buNone/>
            </a:pPr>
            <a:endParaRPr lang="en-US" sz="1500"/>
          </a:p>
          <a:p>
            <a:pPr marL="0" indent="0">
              <a:lnSpc>
                <a:spcPct val="90000"/>
              </a:lnSpc>
              <a:buNone/>
            </a:pPr>
            <a:r>
              <a:rPr lang="en-US" sz="1500" b="1"/>
              <a:t>Symptoms</a:t>
            </a:r>
            <a:r>
              <a:rPr lang="en-US" sz="1500"/>
              <a:t>:  You find yourself re-implementing the required functions.  Many users attempting to solve the same problem.</a:t>
            </a:r>
          </a:p>
          <a:p>
            <a:pPr marL="0" indent="0">
              <a:lnSpc>
                <a:spcPct val="90000"/>
              </a:lnSpc>
              <a:buNone/>
            </a:pPr>
            <a:endParaRPr lang="en-US" sz="1500"/>
          </a:p>
          <a:p>
            <a:pPr marL="0" indent="0">
              <a:lnSpc>
                <a:spcPct val="90000"/>
              </a:lnSpc>
              <a:buNone/>
            </a:pPr>
            <a:r>
              <a:rPr lang="en-US" sz="1500" b="1"/>
              <a:t>Solutions</a:t>
            </a:r>
            <a:r>
              <a:rPr lang="en-US" sz="1500"/>
              <a:t>:  Follow the open-closed principle.  Choose carefully which constructs to seal, make virtual, make public, protected, or internal.  </a:t>
            </a:r>
            <a:r>
              <a:rPr lang="en-US" sz="1500">
                <a:hlinkClick r:id="rId2"/>
              </a:rPr>
              <a:t>Use access modifiers </a:t>
            </a:r>
            <a:r>
              <a:rPr lang="en-US" sz="1500" i="1">
                <a:hlinkClick r:id="rId2"/>
              </a:rPr>
              <a:t>semantically</a:t>
            </a:r>
            <a:r>
              <a:rPr lang="en-US" sz="1500">
                <a:hlinkClick r:id="rId2"/>
              </a:rPr>
              <a:t>, rather than protectively</a:t>
            </a:r>
            <a:r>
              <a:rPr lang="en-US" sz="1500"/>
              <a:t>.</a:t>
            </a:r>
          </a:p>
        </p:txBody>
      </p:sp>
      <p:pic>
        <p:nvPicPr>
          <p:cNvPr id="5" name="Picture 4" descr="A network formed by white dots">
            <a:extLst>
              <a:ext uri="{FF2B5EF4-FFF2-40B4-BE49-F238E27FC236}">
                <a16:creationId xmlns:a16="http://schemas.microsoft.com/office/drawing/2014/main" id="{350047BA-1435-29CC-B067-DEB779D8AE62}"/>
              </a:ext>
            </a:extLst>
          </p:cNvPr>
          <p:cNvPicPr>
            <a:picLocks noChangeAspect="1"/>
          </p:cNvPicPr>
          <p:nvPr/>
        </p:nvPicPr>
        <p:blipFill>
          <a:blip r:embed="rId3"/>
          <a:srcRect l="39427" r="-1" b="-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9799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Big Ball of Mud (BBOM or “Bomb”)</a:t>
            </a:r>
            <a:endParaRPr lang="en-US" sz="2000" dirty="0"/>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85572" y="2160589"/>
            <a:ext cx="8596668" cy="3880773"/>
          </a:xfrm>
        </p:spPr>
        <p:txBody>
          <a:bodyPr>
            <a:normAutofit fontScale="92500"/>
          </a:bodyPr>
          <a:lstStyle/>
          <a:p>
            <a:pPr marL="0" indent="0">
              <a:buNone/>
            </a:pPr>
            <a:r>
              <a:rPr lang="en-US" b="1" dirty="0"/>
              <a:t>Definition</a:t>
            </a:r>
            <a:r>
              <a:rPr lang="en-US" dirty="0"/>
              <a:t>:  A software system that lacks a clear architecture.</a:t>
            </a:r>
          </a:p>
          <a:p>
            <a:pPr marL="0" indent="0">
              <a:buNone/>
            </a:pPr>
            <a:endParaRPr lang="en-US" dirty="0"/>
          </a:p>
          <a:p>
            <a:pPr marL="0" indent="0">
              <a:buNone/>
            </a:pPr>
            <a:r>
              <a:rPr lang="en-US" b="1" dirty="0"/>
              <a:t>Eric’s Comments</a:t>
            </a:r>
            <a:r>
              <a:rPr lang="en-US" dirty="0"/>
              <a:t>: This is undesirable from a software engineering point of view, but common in practice due to business pressures, developer turnover, and code entropy.</a:t>
            </a:r>
          </a:p>
          <a:p>
            <a:pPr marL="0" indent="0">
              <a:buNone/>
            </a:pPr>
            <a:endParaRPr lang="en-US" dirty="0"/>
          </a:p>
          <a:p>
            <a:pPr marL="0" indent="0">
              <a:buNone/>
            </a:pPr>
            <a:r>
              <a:rPr lang="en-US" b="1" dirty="0"/>
              <a:t>Symptoms</a:t>
            </a:r>
            <a:r>
              <a:rPr lang="en-US" dirty="0"/>
              <a:t>:  Haphazard structure.  Sprawling domains or assembly.  Tight coupling.  Sloppiness.  Spaghetti-code.  You find yourself making repeated, expedient repair.</a:t>
            </a:r>
          </a:p>
          <a:p>
            <a:pPr marL="0" indent="0">
              <a:buNone/>
            </a:pPr>
            <a:endParaRPr lang="en-US" dirty="0"/>
          </a:p>
          <a:p>
            <a:pPr marL="0" indent="0">
              <a:buNone/>
            </a:pPr>
            <a:r>
              <a:rPr lang="en-US" b="1" dirty="0"/>
              <a:t>Solutions</a:t>
            </a:r>
            <a:r>
              <a:rPr lang="en-US" dirty="0"/>
              <a:t>:  </a:t>
            </a:r>
            <a:r>
              <a:rPr lang="en-US" dirty="0">
                <a:hlinkClick r:id="rId2"/>
              </a:rPr>
              <a:t>Fight Entropy</a:t>
            </a:r>
            <a:r>
              <a:rPr lang="en-US" dirty="0"/>
              <a:t>!  Fix “</a:t>
            </a:r>
            <a:r>
              <a:rPr lang="en-US" dirty="0">
                <a:hlinkClick r:id="rId3"/>
              </a:rPr>
              <a:t>broken windows</a:t>
            </a:r>
            <a:r>
              <a:rPr lang="en-US" dirty="0"/>
              <a:t>.”  Give individual files just a minute or two of love.  Refactor obvious things to patterns.  Study and understand the code before making changes to avoid making it worse.</a:t>
            </a:r>
          </a:p>
        </p:txBody>
      </p:sp>
    </p:spTree>
    <p:extLst>
      <p:ext uri="{BB962C8B-B14F-4D97-AF65-F5344CB8AC3E}">
        <p14:creationId xmlns:p14="http://schemas.microsoft.com/office/powerpoint/2010/main" val="189151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dirty="0"/>
              <a:t>Gold Plating (BBOM’s Evil Twin)</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lnSpc>
                <a:spcPct val="90000"/>
              </a:lnSpc>
              <a:buNone/>
            </a:pPr>
            <a:r>
              <a:rPr lang="en-US" b="1" dirty="0"/>
              <a:t>Definition</a:t>
            </a:r>
            <a:r>
              <a:rPr lang="en-US" dirty="0"/>
              <a:t>:  Continuing to work on a task or project past the point where the work is adding value.</a:t>
            </a:r>
            <a:endParaRPr lang="en-US"/>
          </a:p>
          <a:p>
            <a:pPr marL="0" indent="0">
              <a:lnSpc>
                <a:spcPct val="90000"/>
              </a:lnSpc>
              <a:buNone/>
            </a:pPr>
            <a:endParaRPr lang="en-US"/>
          </a:p>
          <a:p>
            <a:pPr marL="0" indent="0">
              <a:lnSpc>
                <a:spcPct val="90000"/>
              </a:lnSpc>
              <a:buNone/>
            </a:pPr>
            <a:r>
              <a:rPr lang="en-US" b="1" dirty="0"/>
              <a:t>Symptoms</a:t>
            </a:r>
            <a:r>
              <a:rPr lang="en-US" dirty="0"/>
              <a:t>:  You are working on something long after meeting the requirements.  This is endless polish, not common things like refactoring to patterns or cleaning your code for readability.</a:t>
            </a:r>
            <a:endParaRPr lang="en-US"/>
          </a:p>
          <a:p>
            <a:pPr marL="0" indent="0">
              <a:lnSpc>
                <a:spcPct val="90000"/>
              </a:lnSpc>
              <a:buNone/>
            </a:pPr>
            <a:endParaRPr lang="en-US"/>
          </a:p>
          <a:p>
            <a:pPr marL="0" indent="0">
              <a:lnSpc>
                <a:spcPct val="90000"/>
              </a:lnSpc>
              <a:buNone/>
            </a:pPr>
            <a:r>
              <a:rPr lang="en-US" b="1" dirty="0"/>
              <a:t>Discussion Point</a:t>
            </a:r>
            <a:r>
              <a:rPr lang="en-US" dirty="0"/>
              <a:t>:  Perfect is the enemy of done.</a:t>
            </a:r>
            <a:endParaRPr lang="en-US"/>
          </a:p>
          <a:p>
            <a:pPr marL="0" indent="0">
              <a:lnSpc>
                <a:spcPct val="90000"/>
              </a:lnSpc>
              <a:buNone/>
            </a:pPr>
            <a:endParaRPr lang="en-US"/>
          </a:p>
          <a:p>
            <a:pPr marL="0" indent="0">
              <a:lnSpc>
                <a:spcPct val="90000"/>
              </a:lnSpc>
              <a:buNone/>
            </a:pPr>
            <a:r>
              <a:rPr lang="en-US" b="1" dirty="0"/>
              <a:t>Solution</a:t>
            </a:r>
            <a:r>
              <a:rPr lang="en-US" dirty="0"/>
              <a:t>:  DETACH.  When you meet the requirements for your feature, take a step back and observe your work.  Is it “good enough?”  Take a few minutes, clean it up for readability, and move on.</a:t>
            </a:r>
            <a:endParaRPr lang="en-US"/>
          </a:p>
        </p:txBody>
      </p:sp>
    </p:spTree>
    <p:extLst>
      <p:ext uri="{BB962C8B-B14F-4D97-AF65-F5344CB8AC3E}">
        <p14:creationId xmlns:p14="http://schemas.microsoft.com/office/powerpoint/2010/main" val="40318751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Distributed Monolith</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300" b="1"/>
              <a:t>Definition</a:t>
            </a:r>
            <a:r>
              <a:rPr lang="en-US" sz="1300"/>
              <a:t>:  A set of services that must be deployed together, share a database, and fail in unison.  All the operational cost of microservices, none of the independence.</a:t>
            </a:r>
          </a:p>
          <a:p>
            <a:pPr marL="0" indent="0">
              <a:lnSpc>
                <a:spcPct val="90000"/>
              </a:lnSpc>
              <a:buNone/>
            </a:pPr>
            <a:endParaRPr lang="en-US" sz="1300"/>
          </a:p>
          <a:p>
            <a:pPr marL="0" indent="0">
              <a:lnSpc>
                <a:spcPct val="90000"/>
              </a:lnSpc>
              <a:buNone/>
            </a:pPr>
            <a:r>
              <a:rPr lang="en-US" sz="1300" b="1"/>
              <a:t>Symptoms</a:t>
            </a:r>
            <a:r>
              <a:rPr lang="en-US" sz="1300"/>
              <a:t>:  A change in one service requires coordinated releases across several.  Services share schemas, tables, or libraries with breaking changes.  An outage in one component takes down the rest.  CI times grow without the benefit of independent deploys.</a:t>
            </a:r>
          </a:p>
          <a:p>
            <a:pPr marL="0" indent="0">
              <a:lnSpc>
                <a:spcPct val="90000"/>
              </a:lnSpc>
              <a:buNone/>
            </a:pPr>
            <a:endParaRPr lang="en-US" sz="1300"/>
          </a:p>
          <a:p>
            <a:pPr marL="0" indent="0">
              <a:lnSpc>
                <a:spcPct val="90000"/>
              </a:lnSpc>
              <a:buNone/>
            </a:pPr>
            <a:r>
              <a:rPr lang="en-US" sz="1300" b="1"/>
              <a:t>Solution</a:t>
            </a:r>
            <a:r>
              <a:rPr lang="en-US" sz="1300"/>
              <a:t>:  Identify the seams that already exist in the business domain before splitting the code.  Give each service its own data.  If two services cannot be deployed independently, they are one service wearing two hats — merge them back until the boundary is real.</a:t>
            </a:r>
          </a:p>
        </p:txBody>
      </p:sp>
      <p:pic>
        <p:nvPicPr>
          <p:cNvPr id="5" name="Picture 4" descr="A 3D pattern of ring shapes connected by lines">
            <a:extLst>
              <a:ext uri="{FF2B5EF4-FFF2-40B4-BE49-F238E27FC236}">
                <a16:creationId xmlns:a16="http://schemas.microsoft.com/office/drawing/2014/main" id="{5C9D7621-F3D2-2968-E8B7-3391710BCABF}"/>
              </a:ext>
            </a:extLst>
          </p:cNvPr>
          <p:cNvPicPr>
            <a:picLocks noChangeAspect="1"/>
          </p:cNvPicPr>
          <p:nvPr/>
        </p:nvPicPr>
        <p:blipFill>
          <a:blip r:embed="rId2"/>
          <a:srcRect l="11514" r="44236"/>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AI-Washing the Architecture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400" b="1"/>
              <a:t>Definition</a:t>
            </a:r>
            <a:r>
              <a:rPr lang="en-US" sz="1400"/>
              <a:t>:  Bolting a language model onto an existing workflow because the deck needs the slide, not because the workflow needs language understanding.</a:t>
            </a:r>
          </a:p>
          <a:p>
            <a:pPr marL="0" indent="0">
              <a:lnSpc>
                <a:spcPct val="90000"/>
              </a:lnSpc>
              <a:buNone/>
            </a:pPr>
            <a:endParaRPr lang="en-US" sz="1400"/>
          </a:p>
          <a:p>
            <a:pPr marL="0" indent="0">
              <a:lnSpc>
                <a:spcPct val="90000"/>
              </a:lnSpc>
              <a:buNone/>
            </a:pPr>
            <a:r>
              <a:rPr lang="en-US" sz="1400" b="1"/>
              <a:t>Symptoms</a:t>
            </a:r>
            <a:r>
              <a:rPr lang="en-US" sz="1400"/>
              <a:t>:  An LLM is introduced into a flow that has deterministic inputs and outputs.  Latency and cost go up.  Accuracy goes down.  Nobody can explain what the model is doing that a rules engine or query could not.</a:t>
            </a:r>
          </a:p>
          <a:p>
            <a:pPr marL="0" indent="0">
              <a:lnSpc>
                <a:spcPct val="90000"/>
              </a:lnSpc>
              <a:buNone/>
            </a:pPr>
            <a:endParaRPr lang="en-US" sz="1400"/>
          </a:p>
          <a:p>
            <a:pPr marL="0" indent="0">
              <a:lnSpc>
                <a:spcPct val="90000"/>
              </a:lnSpc>
              <a:buNone/>
            </a:pPr>
            <a:r>
              <a:rPr lang="en-US" sz="1400" b="1"/>
              <a:t>Solution</a:t>
            </a:r>
            <a:r>
              <a:rPr lang="en-US" sz="1400"/>
              <a:t>:  Start from the problem, not the tool.  Use LLMs where ambiguity, language, or unstructured input is the actual difficulty.  For everything else, prefer the boring, testable solution.  The Golden Hammer has a new head; the rule is the same.</a:t>
            </a:r>
          </a:p>
        </p:txBody>
      </p:sp>
      <p:pic>
        <p:nvPicPr>
          <p:cNvPr id="5" name="Picture 4" descr="Green and yellow layers">
            <a:extLst>
              <a:ext uri="{FF2B5EF4-FFF2-40B4-BE49-F238E27FC236}">
                <a16:creationId xmlns:a16="http://schemas.microsoft.com/office/drawing/2014/main" id="{ADDC0C2E-ADA0-CBCC-337A-DC6B68A561E5}"/>
              </a:ext>
            </a:extLst>
          </p:cNvPr>
          <p:cNvPicPr>
            <a:picLocks noChangeAspect="1"/>
          </p:cNvPicPr>
          <p:nvPr/>
        </p:nvPicPr>
        <p:blipFill>
          <a:blip r:embed="rId2"/>
          <a:srcRect l="19910" r="16763" b="-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dirty="0"/>
              <a:t>Strangler Fig That Never Strangles</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lnSpc>
                <a:spcPct val="90000"/>
              </a:lnSpc>
              <a:buNone/>
            </a:pPr>
            <a:r>
              <a:rPr lang="en-US" b="1" dirty="0"/>
              <a:t>Definition</a:t>
            </a:r>
            <a:r>
              <a:rPr lang="en-US" dirty="0"/>
              <a:t>:  A migration begun in earnest, paused for a reorg, and quietly abandoned mid-strangle.  The old system survives indefinitely alongside the new one.</a:t>
            </a:r>
            <a:endParaRPr lang="en-US"/>
          </a:p>
          <a:p>
            <a:pPr marL="0" indent="0">
              <a:lnSpc>
                <a:spcPct val="90000"/>
              </a:lnSpc>
              <a:buNone/>
            </a:pPr>
            <a:endParaRPr lang="en-US"/>
          </a:p>
          <a:p>
            <a:pPr marL="0" indent="0">
              <a:lnSpc>
                <a:spcPct val="90000"/>
              </a:lnSpc>
              <a:buNone/>
            </a:pPr>
            <a:r>
              <a:rPr lang="en-US" b="1" dirty="0"/>
              <a:t>Symptoms</a:t>
            </a:r>
            <a:r>
              <a:rPr lang="en-US" dirty="0"/>
              <a:t>:  You maintain two systems and the integration seam between them.  Each team blames the other for bugs that cross the boundary.  “Finishing the migration” has been on the roadmap for three planning cycles.</a:t>
            </a:r>
            <a:endParaRPr lang="en-US"/>
          </a:p>
          <a:p>
            <a:pPr marL="0" indent="0">
              <a:lnSpc>
                <a:spcPct val="90000"/>
              </a:lnSpc>
              <a:buNone/>
            </a:pPr>
            <a:endParaRPr lang="en-US"/>
          </a:p>
          <a:p>
            <a:pPr marL="0" indent="0">
              <a:lnSpc>
                <a:spcPct val="90000"/>
              </a:lnSpc>
              <a:buNone/>
            </a:pPr>
            <a:r>
              <a:rPr lang="en-US" b="1" dirty="0"/>
              <a:t>Solution</a:t>
            </a:r>
            <a:r>
              <a:rPr lang="en-US" dirty="0"/>
              <a:t>:  Set and defend a deprecation date for the old system before the new one ships its first feature.  Track the percentage of traffic, data, or use cases moved — not the features built.  Be willing to revert rather than live in the seam forever.</a:t>
            </a:r>
            <a:endParaRPr lang="en-US"/>
          </a:p>
        </p:txBody>
      </p:sp>
    </p:spTree>
    <p:extLst>
      <p:ext uri="{BB962C8B-B14F-4D97-AF65-F5344CB8AC3E}">
        <p14:creationId xmlns:p14="http://schemas.microsoft.com/office/powerpoint/2010/main" val="13498254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0"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101010 data lines to infinity">
            <a:extLst>
              <a:ext uri="{FF2B5EF4-FFF2-40B4-BE49-F238E27FC236}">
                <a16:creationId xmlns:a16="http://schemas.microsoft.com/office/drawing/2014/main" id="{31BAAE25-4B77-BEBE-1CBF-A455ABDCE413}"/>
              </a:ext>
            </a:extLst>
          </p:cNvPr>
          <p:cNvPicPr>
            <a:picLocks noChangeAspect="1"/>
          </p:cNvPicPr>
          <p:nvPr/>
        </p:nvPicPr>
        <p:blipFill>
          <a:blip r:embed="rId2">
            <a:duotone>
              <a:prstClr val="black"/>
              <a:prstClr val="white"/>
            </a:duotone>
          </a:blip>
          <a:srcRect l="21637" r="11413" b="1"/>
          <a:stretch>
            <a:fillRect/>
          </a:stretch>
        </p:blipFill>
        <p:spPr>
          <a:xfrm>
            <a:off x="5097780" y="-1"/>
            <a:ext cx="7091044" cy="6858001"/>
          </a:xfrm>
          <a:custGeom>
            <a:avLst/>
            <a:gdLst/>
            <a:ahLst/>
            <a:cxnLst/>
            <a:rect l="l" t="t" r="r" b="b"/>
            <a:pathLst>
              <a:path w="7091044" h="6858001">
                <a:moveTo>
                  <a:pt x="405750" y="0"/>
                </a:moveTo>
                <a:lnTo>
                  <a:pt x="7091044" y="0"/>
                </a:lnTo>
                <a:lnTo>
                  <a:pt x="7091044" y="6858001"/>
                </a:lnTo>
                <a:lnTo>
                  <a:pt x="53572" y="6858001"/>
                </a:lnTo>
                <a:lnTo>
                  <a:pt x="1828991" y="4521201"/>
                </a:lnTo>
                <a:close/>
                <a:moveTo>
                  <a:pt x="0" y="0"/>
                </a:moveTo>
                <a:lnTo>
                  <a:pt x="405750" y="0"/>
                </a:lnTo>
                <a:lnTo>
                  <a:pt x="0" y="434"/>
                </a:lnTo>
                <a:close/>
              </a:path>
            </a:pathLst>
          </a:custGeom>
        </p:spPr>
      </p:pic>
      <p:sp>
        <p:nvSpPr>
          <p:cNvPr id="2" name="Title 1">
            <a:extLst>
              <a:ext uri="{FF2B5EF4-FFF2-40B4-BE49-F238E27FC236}">
                <a16:creationId xmlns:a16="http://schemas.microsoft.com/office/drawing/2014/main" id="{D493D927-77EC-4551-94BC-A7ADD4F8A8E3}"/>
              </a:ext>
            </a:extLst>
          </p:cNvPr>
          <p:cNvSpPr>
            <a:spLocks noGrp="1"/>
          </p:cNvSpPr>
          <p:nvPr>
            <p:ph type="title"/>
          </p:nvPr>
        </p:nvSpPr>
        <p:spPr>
          <a:xfrm>
            <a:off x="668866" y="1678666"/>
            <a:ext cx="5123515" cy="2369093"/>
          </a:xfrm>
        </p:spPr>
        <p:txBody>
          <a:bodyPr vert="horz" lIns="91440" tIns="45720" rIns="91440" bIns="45720" rtlCol="0" anchor="b">
            <a:normAutofit/>
          </a:bodyPr>
          <a:lstStyle/>
          <a:p>
            <a:pPr algn="r"/>
            <a:r>
              <a:rPr lang="en-US" sz="4800"/>
              <a:t>Programming Anti-Patterns</a:t>
            </a:r>
          </a:p>
        </p:txBody>
      </p:sp>
      <p:sp>
        <p:nvSpPr>
          <p:cNvPr id="3" name="Text Placeholder 2">
            <a:extLst>
              <a:ext uri="{FF2B5EF4-FFF2-40B4-BE49-F238E27FC236}">
                <a16:creationId xmlns:a16="http://schemas.microsoft.com/office/drawing/2014/main" id="{36B537E0-88E8-4E65-813D-D4CF7FFA0D00}"/>
              </a:ext>
            </a:extLst>
          </p:cNvPr>
          <p:cNvSpPr>
            <a:spLocks noGrp="1"/>
          </p:cNvSpPr>
          <p:nvPr>
            <p:ph type="body" idx="1"/>
          </p:nvPr>
        </p:nvSpPr>
        <p:spPr>
          <a:xfrm>
            <a:off x="677335" y="4050831"/>
            <a:ext cx="5113217" cy="1096901"/>
          </a:xfrm>
        </p:spPr>
        <p:txBody>
          <a:bodyPr vert="horz" lIns="91440" tIns="45720" rIns="91440" bIns="45720" rtlCol="0" anchor="t">
            <a:normAutofit/>
          </a:bodyPr>
          <a:lstStyle/>
          <a:p>
            <a:pPr algn="r"/>
            <a:r>
              <a:rPr lang="en-US" sz="1600"/>
              <a:t>The wrong way to </a:t>
            </a:r>
            <a:r>
              <a:rPr lang="en-US" sz="1600" i="1"/>
              <a:t>think</a:t>
            </a:r>
            <a:r>
              <a:rPr lang="en-US" sz="1600"/>
              <a:t> about software while you code.</a:t>
            </a:r>
          </a:p>
        </p:txBody>
      </p:sp>
      <p:cxnSp>
        <p:nvCxnSpPr>
          <p:cNvPr id="21" name="Straight Connector 20">
            <a:extLst>
              <a:ext uri="{FF2B5EF4-FFF2-40B4-BE49-F238E27FC236}">
                <a16:creationId xmlns:a16="http://schemas.microsoft.com/office/drawing/2014/main" id="{27A85E05-9D34-4977-8352-DB39569974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CDED616-E554-4DB6-9F28-08F38A64A9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8CDA3497-1EDA-4EB3-9C27-4D9835D30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41F9764E-9AA0-49A3-9EA2-885EE991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FA3A4F4A-4DC4-43F2-AC2D-06211A812F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84CFB374-B343-457A-B567-B4D784B1F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0597FEEE-1E11-4396-BB69-B43FA92F9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9">
            <a:extLst>
              <a:ext uri="{FF2B5EF4-FFF2-40B4-BE49-F238E27FC236}">
                <a16:creationId xmlns:a16="http://schemas.microsoft.com/office/drawing/2014/main" id="{A2DB2F81-3E68-4044-B7C2-03DEEC50D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29">
            <a:extLst>
              <a:ext uri="{FF2B5EF4-FFF2-40B4-BE49-F238E27FC236}">
                <a16:creationId xmlns:a16="http://schemas.microsoft.com/office/drawing/2014/main" id="{DC2F7294-2397-4C96-AB1E-E66CDEA3B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28187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1043950" y="1179151"/>
            <a:ext cx="3300646" cy="4463889"/>
          </a:xfrm>
        </p:spPr>
        <p:txBody>
          <a:bodyPr anchor="ctr">
            <a:normAutofit/>
          </a:bodyPr>
          <a:lstStyle/>
          <a:p>
            <a:r>
              <a:rPr lang="en-US" dirty="0"/>
              <a:t>Repository Abuse</a:t>
            </a:r>
            <a:endParaRPr lang="en-US"/>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4978918" y="1109145"/>
            <a:ext cx="6341016" cy="4603900"/>
          </a:xfrm>
        </p:spPr>
        <p:txBody>
          <a:bodyPr anchor="ctr">
            <a:normAutofit/>
          </a:bodyPr>
          <a:lstStyle/>
          <a:p>
            <a:pPr marL="0" indent="0">
              <a:buNone/>
            </a:pPr>
            <a:r>
              <a:rPr lang="en-US" b="1" dirty="0"/>
              <a:t>Definition</a:t>
            </a:r>
            <a:r>
              <a:rPr lang="en-US" dirty="0"/>
              <a:t>:  Failing to use a repository efficiently, instead relying on nested loops, client-filtering, and lazy-loading.</a:t>
            </a:r>
          </a:p>
          <a:p>
            <a:pPr marL="0" indent="0">
              <a:buNone/>
            </a:pPr>
            <a:endParaRPr lang="en-US" dirty="0"/>
          </a:p>
          <a:p>
            <a:pPr marL="0" indent="0">
              <a:buNone/>
            </a:pPr>
            <a:r>
              <a:rPr lang="en-US" b="1" dirty="0"/>
              <a:t>Symptoms</a:t>
            </a:r>
            <a:r>
              <a:rPr lang="en-US" dirty="0"/>
              <a:t>:  You get strange database exceptions.  You execute queries in a loop.  You have .Where(lambda) </a:t>
            </a:r>
            <a:r>
              <a:rPr lang="en-US" i="1" dirty="0"/>
              <a:t>after</a:t>
            </a:r>
            <a:r>
              <a:rPr lang="en-US" dirty="0"/>
              <a:t> a </a:t>
            </a:r>
            <a:r>
              <a:rPr lang="en-US" dirty="0" err="1"/>
              <a:t>repository.Find</a:t>
            </a:r>
            <a:r>
              <a:rPr lang="en-US" dirty="0"/>
              <a:t>(query).  You don’t have sufficient include statements in your query to prevent lazy-loading of properties.</a:t>
            </a:r>
          </a:p>
          <a:p>
            <a:pPr marL="0" indent="0">
              <a:buNone/>
            </a:pPr>
            <a:endParaRPr lang="en-US" dirty="0"/>
          </a:p>
          <a:p>
            <a:pPr marL="0" indent="0">
              <a:buNone/>
            </a:pPr>
            <a:r>
              <a:rPr lang="en-US" b="1" dirty="0"/>
              <a:t>Solutions</a:t>
            </a:r>
            <a:r>
              <a:rPr lang="en-US" dirty="0"/>
              <a:t>:  Write queries that bring </a:t>
            </a:r>
            <a:r>
              <a:rPr lang="en-US" i="1" dirty="0"/>
              <a:t>exactly</a:t>
            </a:r>
            <a:r>
              <a:rPr lang="en-US" dirty="0"/>
              <a:t> the data you need for your usage.  Do not re-use semi-correct queries.  Alter them or make new ones.  Include the properties you need for your usage.  Bring back collections and loop over them, rather than querying in a loop.</a:t>
            </a:r>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0503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Circular Dependency</a:t>
            </a:r>
            <a:endParaRPr lang="en-US" sz="2000" dirty="0"/>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a:bodyPr>
          <a:lstStyle/>
          <a:p>
            <a:pPr marL="0" indent="0">
              <a:buNone/>
            </a:pPr>
            <a:r>
              <a:rPr lang="en-US" b="1" dirty="0"/>
              <a:t>Definition</a:t>
            </a:r>
            <a:r>
              <a:rPr lang="en-US" dirty="0"/>
              <a:t>:  A relationship between two or more modules which either directly or indirectly depend on each other to function properly.</a:t>
            </a:r>
          </a:p>
          <a:p>
            <a:pPr marL="0" indent="0">
              <a:buNone/>
            </a:pPr>
            <a:endParaRPr lang="en-US" dirty="0"/>
          </a:p>
          <a:p>
            <a:pPr marL="0" indent="0">
              <a:buNone/>
            </a:pPr>
            <a:r>
              <a:rPr lang="en-US" b="1" dirty="0"/>
              <a:t>Symptoms</a:t>
            </a:r>
            <a:r>
              <a:rPr lang="en-US" dirty="0"/>
              <a:t>:  You have assemblies that reference one another.  You have using statements in your API code file that reference domain namespaces.  You are struggling to write callbacks across domains.</a:t>
            </a:r>
          </a:p>
          <a:p>
            <a:pPr marL="0" indent="0">
              <a:buNone/>
            </a:pPr>
            <a:endParaRPr lang="en-US" dirty="0"/>
          </a:p>
          <a:p>
            <a:pPr marL="0" indent="0">
              <a:buNone/>
            </a:pPr>
            <a:r>
              <a:rPr lang="en-US" b="1" dirty="0"/>
              <a:t>Solutions</a:t>
            </a:r>
            <a:r>
              <a:rPr lang="en-US" dirty="0"/>
              <a:t>: Use design patterns like Observer, Pub-Sub, or Command, rather than lamely implementing callbacks.</a:t>
            </a:r>
          </a:p>
        </p:txBody>
      </p:sp>
    </p:spTree>
    <p:extLst>
      <p:ext uri="{BB962C8B-B14F-4D97-AF65-F5344CB8AC3E}">
        <p14:creationId xmlns:p14="http://schemas.microsoft.com/office/powerpoint/2010/main" val="32937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God Object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400" b="1"/>
              <a:t>Definition</a:t>
            </a:r>
            <a:r>
              <a:rPr lang="en-US" sz="1400"/>
              <a:t>:  Any object that knows too much (omniscient) or does too much (omnipotent).</a:t>
            </a:r>
          </a:p>
          <a:p>
            <a:pPr marL="0" indent="0">
              <a:lnSpc>
                <a:spcPct val="90000"/>
              </a:lnSpc>
              <a:buNone/>
            </a:pPr>
            <a:endParaRPr lang="en-US" sz="1400"/>
          </a:p>
          <a:p>
            <a:pPr marL="0" indent="0">
              <a:lnSpc>
                <a:spcPct val="90000"/>
              </a:lnSpc>
              <a:buNone/>
            </a:pPr>
            <a:r>
              <a:rPr lang="en-US" sz="1400" b="1"/>
              <a:t>Symptoms</a:t>
            </a:r>
            <a:r>
              <a:rPr lang="en-US" sz="1400"/>
              <a:t>:  Your service providers are large and/or complex.  You use giant objects for coordinating complex operations instead of following common design patterns.  Your domain boundaries are not clearly defined, and your entities know </a:t>
            </a:r>
            <a:r>
              <a:rPr lang="en-US" sz="1400" i="1"/>
              <a:t>details</a:t>
            </a:r>
            <a:r>
              <a:rPr lang="en-US" sz="1400"/>
              <a:t> about other lines of business.</a:t>
            </a:r>
          </a:p>
          <a:p>
            <a:pPr marL="0" indent="0">
              <a:lnSpc>
                <a:spcPct val="90000"/>
              </a:lnSpc>
              <a:buNone/>
            </a:pPr>
            <a:endParaRPr lang="en-US" sz="1400"/>
          </a:p>
          <a:p>
            <a:pPr marL="0" indent="0">
              <a:lnSpc>
                <a:spcPct val="90000"/>
              </a:lnSpc>
              <a:buNone/>
            </a:pPr>
            <a:r>
              <a:rPr lang="en-US" sz="1400" b="1"/>
              <a:t>Solutions</a:t>
            </a:r>
            <a:r>
              <a:rPr lang="en-US" sz="1400"/>
              <a:t>:  Study and follow strategic design patterns. DDD, for example, is designed specifically to solve these problems.  Invest in yourself and learn common tactical design patterns.</a:t>
            </a:r>
          </a:p>
        </p:txBody>
      </p:sp>
      <p:pic>
        <p:nvPicPr>
          <p:cNvPr id="5" name="Picture 4" descr="An abstract design with lines and financial symbols">
            <a:extLst>
              <a:ext uri="{FF2B5EF4-FFF2-40B4-BE49-F238E27FC236}">
                <a16:creationId xmlns:a16="http://schemas.microsoft.com/office/drawing/2014/main" id="{725E62C1-CA09-7306-A763-30CF0DD1C8E2}"/>
              </a:ext>
            </a:extLst>
          </p:cNvPr>
          <p:cNvPicPr>
            <a:picLocks noChangeAspect="1"/>
          </p:cNvPicPr>
          <p:nvPr/>
        </p:nvPicPr>
        <p:blipFill>
          <a:blip r:embed="rId2"/>
          <a:srcRect l="23398" r="24289"/>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9326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599"/>
            <a:ext cx="3843375" cy="5545667"/>
          </a:xfrm>
        </p:spPr>
        <p:txBody>
          <a:bodyPr anchor="ctr">
            <a:normAutofit/>
          </a:bodyPr>
          <a:lstStyle/>
          <a:p>
            <a:r>
              <a:rPr lang="en-US">
                <a:solidFill>
                  <a:schemeClr val="tx1">
                    <a:lumMod val="85000"/>
                    <a:lumOff val="15000"/>
                  </a:schemeClr>
                </a:solidFill>
              </a:rPr>
              <a:t>Sequential Coupling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116084" y="609600"/>
            <a:ext cx="5511296" cy="5545667"/>
          </a:xfrm>
        </p:spPr>
        <p:txBody>
          <a:bodyPr anchor="ctr">
            <a:normAutofit/>
          </a:bodyPr>
          <a:lstStyle/>
          <a:p>
            <a:pPr marL="0" indent="0">
              <a:buNone/>
            </a:pPr>
            <a:r>
              <a:rPr lang="en-US" b="1">
                <a:solidFill>
                  <a:srgbClr val="FFFFFF"/>
                </a:solidFill>
              </a:rPr>
              <a:t>Definition</a:t>
            </a:r>
            <a:r>
              <a:rPr lang="en-US">
                <a:solidFill>
                  <a:srgbClr val="FFFFFF"/>
                </a:solidFill>
              </a:rPr>
              <a:t>:  A class that requires its methods to be called in a particular sequence.</a:t>
            </a:r>
          </a:p>
          <a:p>
            <a:pPr marL="0" indent="0">
              <a:buNone/>
            </a:pPr>
            <a:endParaRPr lang="en-US">
              <a:solidFill>
                <a:srgbClr val="FFFFFF"/>
              </a:solidFill>
            </a:endParaRPr>
          </a:p>
          <a:p>
            <a:pPr marL="0" indent="0">
              <a:buNone/>
            </a:pPr>
            <a:r>
              <a:rPr lang="en-US" b="1">
                <a:solidFill>
                  <a:srgbClr val="FFFFFF"/>
                </a:solidFill>
              </a:rPr>
              <a:t>Symptoms</a:t>
            </a:r>
            <a:r>
              <a:rPr lang="en-US">
                <a:solidFill>
                  <a:srgbClr val="FFFFFF"/>
                </a:solidFill>
              </a:rPr>
              <a:t>:  Non-private methods named Init, Begin, or Start.  Property Injection.</a:t>
            </a:r>
          </a:p>
          <a:p>
            <a:pPr marL="0" indent="0">
              <a:buNone/>
            </a:pPr>
            <a:endParaRPr lang="en-US">
              <a:solidFill>
                <a:srgbClr val="FFFFFF"/>
              </a:solidFill>
            </a:endParaRPr>
          </a:p>
          <a:p>
            <a:pPr marL="0" indent="0">
              <a:buNone/>
            </a:pPr>
            <a:r>
              <a:rPr lang="en-US" b="1">
                <a:solidFill>
                  <a:srgbClr val="FFFFFF"/>
                </a:solidFill>
              </a:rPr>
              <a:t>Solution</a:t>
            </a:r>
            <a:r>
              <a:rPr lang="en-US">
                <a:solidFill>
                  <a:srgbClr val="FFFFFF"/>
                </a:solidFill>
              </a:rPr>
              <a:t>:  Inject dependencies via constructors, where possible.  In aspect-oriented programming, use the Service Locator (anti) pattern to resolve dependencies.</a:t>
            </a:r>
          </a:p>
        </p:txBody>
      </p:sp>
    </p:spTree>
    <p:extLst>
      <p:ext uri="{BB962C8B-B14F-4D97-AF65-F5344CB8AC3E}">
        <p14:creationId xmlns:p14="http://schemas.microsoft.com/office/powerpoint/2010/main" val="14226376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dirty="0"/>
              <a:t>Cargo Cult Programming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buNone/>
            </a:pPr>
            <a:r>
              <a:rPr lang="en-US" b="1" dirty="0"/>
              <a:t>Definition</a:t>
            </a:r>
            <a:r>
              <a:rPr lang="en-US" dirty="0"/>
              <a:t>:  Using patterns and methods without understanding why.</a:t>
            </a:r>
          </a:p>
          <a:p>
            <a:pPr marL="0" indent="0">
              <a:buNone/>
            </a:pPr>
            <a:endParaRPr lang="en-US" dirty="0"/>
          </a:p>
          <a:p>
            <a:pPr marL="0" indent="0">
              <a:buNone/>
            </a:pPr>
            <a:r>
              <a:rPr lang="en-US" b="1" dirty="0"/>
              <a:t>Symptoms</a:t>
            </a:r>
            <a:r>
              <a:rPr lang="en-US" dirty="0"/>
              <a:t>:  You are relying on “what has gone before.”  You are programming with copy/paste.  You are not carefully thinking through problems and solutions.</a:t>
            </a:r>
          </a:p>
          <a:p>
            <a:pPr marL="0" indent="0">
              <a:buNone/>
            </a:pPr>
            <a:endParaRPr lang="en-US" dirty="0"/>
          </a:p>
          <a:p>
            <a:pPr marL="0" indent="0">
              <a:buNone/>
            </a:pPr>
            <a:r>
              <a:rPr lang="en-US" b="1" dirty="0"/>
              <a:t>Solution</a:t>
            </a:r>
            <a:r>
              <a:rPr lang="en-US" dirty="0"/>
              <a:t>:  Know design patterns.  Know S.O.L.I.D. principles.  Know anti-patterns.  Know general and project-specific best practices and standards.</a:t>
            </a:r>
          </a:p>
        </p:txBody>
      </p:sp>
    </p:spTree>
    <p:extLst>
      <p:ext uri="{BB962C8B-B14F-4D97-AF65-F5344CB8AC3E}">
        <p14:creationId xmlns:p14="http://schemas.microsoft.com/office/powerpoint/2010/main" val="276891984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3A6A76-AE5D-49AE-9D49-90C0F1548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4DBF464-02EB-49E8-BED5-CCD9C0E092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1" name="Rectangle 23">
              <a:extLst>
                <a:ext uri="{FF2B5EF4-FFF2-40B4-BE49-F238E27FC236}">
                  <a16:creationId xmlns:a16="http://schemas.microsoft.com/office/drawing/2014/main" id="{5F9D5DC0-F10A-4613-AEEB-F3886E477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25">
              <a:extLst>
                <a:ext uri="{FF2B5EF4-FFF2-40B4-BE49-F238E27FC236}">
                  <a16:creationId xmlns:a16="http://schemas.microsoft.com/office/drawing/2014/main" id="{A43566CA-E28A-4758-B656-13F767ECA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9517B8F0-793D-4F61-80A8-8CB87BC08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D139FBAF-C134-4E1A-9404-4C7FB029E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9DE9C77E-3EF1-4718-818D-55EA1600B7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alpha val="70000"/>
                </a:srgbClr>
              </a:solidFill>
            </a:ln>
          </p:spPr>
          <p:style>
            <a:lnRef idx="2">
              <a:schemeClr val="accent1"/>
            </a:lnRef>
            <a:fillRef idx="0">
              <a:schemeClr val="accent1"/>
            </a:fillRef>
            <a:effectRef idx="1">
              <a:schemeClr val="accent1"/>
            </a:effectRef>
            <a:fontRef idx="minor">
              <a:schemeClr val="tx1"/>
            </a:fontRef>
          </p:style>
        </p:cxnSp>
        <p:sp>
          <p:nvSpPr>
            <p:cNvPr id="16" name="Rectangle 28">
              <a:extLst>
                <a:ext uri="{FF2B5EF4-FFF2-40B4-BE49-F238E27FC236}">
                  <a16:creationId xmlns:a16="http://schemas.microsoft.com/office/drawing/2014/main" id="{DB10DB84-C347-472C-96BD-AD4340F03D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70CA661F-8359-442A-A42C-A0993AF8B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8" name="Straight Connector 17">
              <a:extLst>
                <a:ext uri="{FF2B5EF4-FFF2-40B4-BE49-F238E27FC236}">
                  <a16:creationId xmlns:a16="http://schemas.microsoft.com/office/drawing/2014/main" id="{A75C8E99-F0B8-466B-A892-9E0643EAF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alpha val="70000"/>
                </a:srgbClr>
              </a:solidFill>
            </a:ln>
          </p:spPr>
          <p:style>
            <a:lnRef idx="2">
              <a:schemeClr val="accent1"/>
            </a:lnRef>
            <a:fillRef idx="0">
              <a:schemeClr val="accent1"/>
            </a:fillRef>
            <a:effectRef idx="1">
              <a:schemeClr val="accent1"/>
            </a:effectRef>
            <a:fontRef idx="minor">
              <a:schemeClr val="tx1"/>
            </a:fontRef>
          </p:style>
        </p:cxnSp>
        <p:sp>
          <p:nvSpPr>
            <p:cNvPr id="19" name="Isosceles Triangle 18">
              <a:extLst>
                <a:ext uri="{FF2B5EF4-FFF2-40B4-BE49-F238E27FC236}">
                  <a16:creationId xmlns:a16="http://schemas.microsoft.com/office/drawing/2014/main" id="{65DD307C-66C1-4F16-86F5-287334F7B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44416C0-DB16-4364-B13C-2EC6F1A8A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a:solidFill>
                  <a:srgbClr val="FFFFFF"/>
                </a:solidFill>
              </a:rPr>
              <a:t>Coding by Exception</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buNone/>
            </a:pPr>
            <a:r>
              <a:rPr lang="en-US" b="1">
                <a:solidFill>
                  <a:srgbClr val="FFFFFF"/>
                </a:solidFill>
              </a:rPr>
              <a:t>Definition</a:t>
            </a:r>
            <a:r>
              <a:rPr lang="en-US">
                <a:solidFill>
                  <a:srgbClr val="FFFFFF"/>
                </a:solidFill>
              </a:rPr>
              <a:t>:  Adding new code to handle each special case as it arises.</a:t>
            </a:r>
          </a:p>
          <a:p>
            <a:pPr marL="0" indent="0">
              <a:buNone/>
            </a:pPr>
            <a:endParaRPr lang="en-US">
              <a:solidFill>
                <a:srgbClr val="FFFFFF"/>
              </a:solidFill>
            </a:endParaRPr>
          </a:p>
          <a:p>
            <a:pPr marL="0" indent="0">
              <a:buNone/>
            </a:pPr>
            <a:r>
              <a:rPr lang="en-US" b="1">
                <a:solidFill>
                  <a:srgbClr val="FFFFFF"/>
                </a:solidFill>
              </a:rPr>
              <a:t>Symptoms</a:t>
            </a:r>
            <a:r>
              <a:rPr lang="en-US">
                <a:solidFill>
                  <a:srgbClr val="FFFFFF"/>
                </a:solidFill>
              </a:rPr>
              <a:t>:  You are coding protectively.  You are swallowing exceptions.  You are using exceptions for control flow.</a:t>
            </a:r>
          </a:p>
          <a:p>
            <a:pPr marL="0" indent="0">
              <a:buNone/>
            </a:pPr>
            <a:endParaRPr lang="en-US">
              <a:solidFill>
                <a:srgbClr val="FFFFFF"/>
              </a:solidFill>
            </a:endParaRPr>
          </a:p>
          <a:p>
            <a:pPr marL="0" indent="0">
              <a:buNone/>
            </a:pPr>
            <a:r>
              <a:rPr lang="en-US" b="1">
                <a:solidFill>
                  <a:srgbClr val="FFFFFF"/>
                </a:solidFill>
              </a:rPr>
              <a:t>Solution</a:t>
            </a:r>
            <a:r>
              <a:rPr lang="en-US">
                <a:solidFill>
                  <a:srgbClr val="FFFFFF"/>
                </a:solidFill>
              </a:rPr>
              <a:t>:  Solve underlying problems.  Let unexpected exceptions fail all the way to process boundaries.</a:t>
            </a:r>
          </a:p>
        </p:txBody>
      </p:sp>
    </p:spTree>
    <p:extLst>
      <p:ext uri="{BB962C8B-B14F-4D97-AF65-F5344CB8AC3E}">
        <p14:creationId xmlns:p14="http://schemas.microsoft.com/office/powerpoint/2010/main" val="349062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1253067"/>
            <a:ext cx="6155266" cy="4351866"/>
          </a:xfrm>
        </p:spPr>
        <p:txBody>
          <a:bodyPr anchor="ctr">
            <a:normAutofit/>
          </a:bodyPr>
          <a:lstStyle/>
          <a:p>
            <a:pPr marL="0" indent="0">
              <a:buNone/>
            </a:pPr>
            <a:r>
              <a:rPr lang="en-US" b="1" dirty="0"/>
              <a:t>Definition</a:t>
            </a:r>
            <a:r>
              <a:rPr lang="en-US" dirty="0"/>
              <a:t>:  Retaining a part of a system that no longer has any use, typically “in case it is needed later.”</a:t>
            </a:r>
          </a:p>
          <a:p>
            <a:pPr marL="0" indent="0">
              <a:buNone/>
            </a:pPr>
            <a:endParaRPr lang="en-US" dirty="0"/>
          </a:p>
          <a:p>
            <a:pPr marL="0" indent="0">
              <a:buNone/>
            </a:pPr>
            <a:r>
              <a:rPr lang="en-US" b="1" dirty="0"/>
              <a:t>Symptoms</a:t>
            </a:r>
            <a:r>
              <a:rPr lang="en-US" dirty="0"/>
              <a:t>:  You are having a hard time differentiating between obsolete code that doesn’t do anything and working code which does.</a:t>
            </a:r>
          </a:p>
          <a:p>
            <a:pPr marL="0" indent="0">
              <a:buNone/>
            </a:pPr>
            <a:endParaRPr lang="en-US" dirty="0"/>
          </a:p>
          <a:p>
            <a:pPr marL="0" indent="0">
              <a:buNone/>
            </a:pPr>
            <a:r>
              <a:rPr lang="en-US" b="1" dirty="0"/>
              <a:t>Solution</a:t>
            </a:r>
            <a:r>
              <a:rPr lang="en-US" dirty="0"/>
              <a:t>:  Occasionally scour the code for that which is no longer referenced.  Either move it to a separate location where it can be referenced if necessary or delete it.</a:t>
            </a:r>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0"/>
            <a:ext cx="465734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590212" y="0"/>
            <a:ext cx="1059921"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21600" y="3721395"/>
            <a:ext cx="434556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7829658" y="1253067"/>
            <a:ext cx="3371742" cy="4351866"/>
          </a:xfrm>
        </p:spPr>
        <p:txBody>
          <a:bodyPr anchor="ctr">
            <a:normAutofit/>
          </a:bodyPr>
          <a:lstStyle/>
          <a:p>
            <a:r>
              <a:rPr lang="en-US">
                <a:solidFill>
                  <a:schemeClr val="bg1"/>
                </a:solidFill>
              </a:rPr>
              <a:t>Boat Anchor</a:t>
            </a:r>
          </a:p>
        </p:txBody>
      </p:sp>
    </p:spTree>
    <p:extLst>
      <p:ext uri="{BB962C8B-B14F-4D97-AF65-F5344CB8AC3E}">
        <p14:creationId xmlns:p14="http://schemas.microsoft.com/office/powerpoint/2010/main" val="265810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Fire and smoke">
            <a:extLst>
              <a:ext uri="{FF2B5EF4-FFF2-40B4-BE49-F238E27FC236}">
                <a16:creationId xmlns:a16="http://schemas.microsoft.com/office/drawing/2014/main" id="{815896DB-CF0D-682D-98F6-6095140C4DD8}"/>
              </a:ext>
            </a:extLst>
          </p:cNvPr>
          <p:cNvPicPr>
            <a:picLocks noChangeAspect="1"/>
          </p:cNvPicPr>
          <p:nvPr/>
        </p:nvPicPr>
        <p:blipFill>
          <a:blip r:embed="rId2"/>
          <a:srcRect l="13946" r="8945" b="-2"/>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3" y="609600"/>
            <a:ext cx="3851123" cy="1320800"/>
          </a:xfrm>
        </p:spPr>
        <p:txBody>
          <a:bodyPr>
            <a:normAutofit/>
          </a:bodyPr>
          <a:lstStyle/>
          <a:p>
            <a:r>
              <a:rPr lang="en-US" dirty="0"/>
              <a:t>Lava Flow</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3851122" cy="3880773"/>
          </a:xfrm>
        </p:spPr>
        <p:txBody>
          <a:bodyPr>
            <a:normAutofit/>
          </a:bodyPr>
          <a:lstStyle/>
          <a:p>
            <a:pPr marL="0" indent="0">
              <a:lnSpc>
                <a:spcPct val="90000"/>
              </a:lnSpc>
              <a:buNone/>
            </a:pPr>
            <a:r>
              <a:rPr lang="en-US" sz="1300" b="1"/>
              <a:t>Definition</a:t>
            </a:r>
            <a:r>
              <a:rPr lang="en-US" sz="1300"/>
              <a:t>:  Retaining undesirable (redundant or low-quality) code because removing it is too expensive or has unpredictable consequences.</a:t>
            </a:r>
          </a:p>
          <a:p>
            <a:pPr marL="0" indent="0">
              <a:lnSpc>
                <a:spcPct val="90000"/>
              </a:lnSpc>
              <a:buNone/>
            </a:pPr>
            <a:endParaRPr lang="en-US" sz="1300"/>
          </a:p>
          <a:p>
            <a:pPr marL="0" indent="0">
              <a:lnSpc>
                <a:spcPct val="90000"/>
              </a:lnSpc>
              <a:buNone/>
            </a:pPr>
            <a:r>
              <a:rPr lang="en-US" sz="1300" b="1"/>
              <a:t>Symptoms</a:t>
            </a:r>
            <a:r>
              <a:rPr lang="en-US" sz="1300"/>
              <a:t>:  You find yourself adding to, maintaining, or adding dependencies to an original incomplete or poor design.</a:t>
            </a:r>
          </a:p>
          <a:p>
            <a:pPr marL="0" indent="0">
              <a:lnSpc>
                <a:spcPct val="90000"/>
              </a:lnSpc>
              <a:buNone/>
            </a:pPr>
            <a:endParaRPr lang="en-US" sz="1300"/>
          </a:p>
          <a:p>
            <a:pPr marL="0" indent="0">
              <a:lnSpc>
                <a:spcPct val="90000"/>
              </a:lnSpc>
              <a:buNone/>
            </a:pPr>
            <a:r>
              <a:rPr lang="en-US" sz="1300" b="1"/>
              <a:t>Discussion Point</a:t>
            </a:r>
            <a:r>
              <a:rPr lang="en-US" sz="1300"/>
              <a:t>:  The longer this continues, the worse the problem will become.</a:t>
            </a:r>
            <a:endParaRPr lang="en-US" sz="1300" b="1"/>
          </a:p>
          <a:p>
            <a:pPr marL="0" indent="0">
              <a:lnSpc>
                <a:spcPct val="90000"/>
              </a:lnSpc>
              <a:buNone/>
            </a:pPr>
            <a:endParaRPr lang="en-US" sz="1300"/>
          </a:p>
          <a:p>
            <a:pPr marL="0" indent="0">
              <a:lnSpc>
                <a:spcPct val="90000"/>
              </a:lnSpc>
              <a:buNone/>
            </a:pPr>
            <a:r>
              <a:rPr lang="en-US" sz="1300" b="1"/>
              <a:t>Solution</a:t>
            </a:r>
            <a:r>
              <a:rPr lang="en-US" sz="1300"/>
              <a:t>: There is NO easy solution.  Do the work to clean up broken pieces.  Budget time for this in your project.  Attempt to get management buy-in for the long-term investment.  Otherwise, at minimum, call out the costs.</a:t>
            </a:r>
          </a:p>
        </p:txBody>
      </p:sp>
      <p:cxnSp>
        <p:nvCxnSpPr>
          <p:cNvPr id="14" name="Straight Connector 1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93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Vibe Coding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lnSpcReduction="10000"/>
          </a:bodyPr>
          <a:lstStyle/>
          <a:p>
            <a:pPr marL="0" indent="0">
              <a:buNone/>
            </a:pPr>
            <a:r>
              <a:rPr lang="en-US" b="1" dirty="0"/>
              <a:t>Definition</a:t>
            </a:r>
            <a:r>
              <a:rPr lang="en-US" dirty="0"/>
              <a:t>:  Prompting an AI assistant until the output “feels right,” committing without reading it, and meeting the bugs in production.</a:t>
            </a:r>
          </a:p>
          <a:p>
            <a:pPr marL="0" indent="0">
              <a:buNone/>
            </a:pPr>
            <a:endParaRPr lang="en-US" dirty="0"/>
          </a:p>
          <a:p>
            <a:pPr marL="0" indent="0">
              <a:buNone/>
            </a:pPr>
            <a:r>
              <a:rPr lang="en-US" b="1" dirty="0"/>
              <a:t>Symptoms</a:t>
            </a:r>
            <a:r>
              <a:rPr lang="en-US" dirty="0"/>
              <a:t>:  Diffs are large, unfamiliar, and difficult to explain in review.  The author cannot answer questions about why a particular approach was chosen.  Tests pass but exercise the wrong invariants.  Cargo Cult Programming’s direct descendant, accelerated.</a:t>
            </a:r>
          </a:p>
          <a:p>
            <a:pPr marL="0" indent="0">
              <a:buNone/>
            </a:pPr>
            <a:endParaRPr lang="en-US" dirty="0"/>
          </a:p>
          <a:p>
            <a:pPr marL="0" indent="0">
              <a:buNone/>
            </a:pPr>
            <a:r>
              <a:rPr lang="en-US" b="1" dirty="0"/>
              <a:t>Solution</a:t>
            </a:r>
            <a:r>
              <a:rPr lang="en-US" dirty="0"/>
              <a:t>:  Treat AI output as a junior engineer’s first draft, not as a finished product.  Read every line you commit.  Ask the model to justify its choices and verify the justification.  If you cannot defend the code in review, you cannot ship it.</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1253067"/>
            <a:ext cx="6155266" cy="4351866"/>
          </a:xfrm>
        </p:spPr>
        <p:txBody>
          <a:bodyPr anchor="ctr">
            <a:normAutofit/>
          </a:bodyPr>
          <a:lstStyle/>
          <a:p>
            <a:pPr marL="0" indent="0">
              <a:lnSpc>
                <a:spcPct val="90000"/>
              </a:lnSpc>
              <a:buNone/>
            </a:pPr>
            <a:r>
              <a:rPr lang="en-US" b="1" dirty="0"/>
              <a:t>Definition</a:t>
            </a:r>
            <a:r>
              <a:rPr lang="en-US" dirty="0"/>
              <a:t>:  A test suite that mocks every dependency, achieves high coverage, and verifies nothing about real behavior.</a:t>
            </a:r>
            <a:endParaRPr lang="en-US"/>
          </a:p>
          <a:p>
            <a:pPr marL="0" indent="0">
              <a:lnSpc>
                <a:spcPct val="90000"/>
              </a:lnSpc>
              <a:buNone/>
            </a:pPr>
            <a:endParaRPr lang="en-US"/>
          </a:p>
          <a:p>
            <a:pPr marL="0" indent="0">
              <a:lnSpc>
                <a:spcPct val="90000"/>
              </a:lnSpc>
              <a:buNone/>
            </a:pPr>
            <a:r>
              <a:rPr lang="en-US" b="1" dirty="0"/>
              <a:t>Symptoms</a:t>
            </a:r>
            <a:r>
              <a:rPr lang="en-US" dirty="0"/>
              <a:t>:  Tests pass while the system is broken.  Refactoring requires rewriting the tests in lockstep with the code.  Bugs reproduce in production but not in the suite.  You are testing that your mocks behave like your mocks.</a:t>
            </a:r>
            <a:endParaRPr lang="en-US"/>
          </a:p>
          <a:p>
            <a:pPr marL="0" indent="0">
              <a:lnSpc>
                <a:spcPct val="90000"/>
              </a:lnSpc>
              <a:buNone/>
            </a:pPr>
            <a:endParaRPr lang="en-US"/>
          </a:p>
          <a:p>
            <a:pPr marL="0" indent="0">
              <a:lnSpc>
                <a:spcPct val="90000"/>
              </a:lnSpc>
              <a:buNone/>
            </a:pPr>
            <a:r>
              <a:rPr lang="en-US" b="1" dirty="0"/>
              <a:t>Solution</a:t>
            </a:r>
            <a:r>
              <a:rPr lang="en-US" dirty="0"/>
              <a:t>:  Mock at the system boundary, not inside the domain.  Prefer integration tests over unit tests that mock collaborators.  Use real implementations — in-memory databases, fake clocks, test containers — whenever the cost is reasonable.</a:t>
            </a:r>
            <a:endParaRPr lang="en-US"/>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0"/>
            <a:ext cx="465734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590212" y="0"/>
            <a:ext cx="1059921"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21600" y="3721395"/>
            <a:ext cx="434556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7829658" y="1253067"/>
            <a:ext cx="3371742" cy="4351866"/>
          </a:xfrm>
        </p:spPr>
        <p:txBody>
          <a:bodyPr anchor="ctr">
            <a:normAutofit/>
          </a:bodyPr>
          <a:lstStyle/>
          <a:p>
            <a:r>
              <a:rPr lang="en-US">
                <a:solidFill>
                  <a:schemeClr val="bg1"/>
                </a:solidFill>
              </a:rPr>
              <a:t>Mock Maximalism</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3A6A76-AE5D-49AE-9D49-90C0F1548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4DBF464-02EB-49E8-BED5-CCD9C0E092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1" name="Rectangle 23">
              <a:extLst>
                <a:ext uri="{FF2B5EF4-FFF2-40B4-BE49-F238E27FC236}">
                  <a16:creationId xmlns:a16="http://schemas.microsoft.com/office/drawing/2014/main" id="{5F9D5DC0-F10A-4613-AEEB-F3886E477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25">
              <a:extLst>
                <a:ext uri="{FF2B5EF4-FFF2-40B4-BE49-F238E27FC236}">
                  <a16:creationId xmlns:a16="http://schemas.microsoft.com/office/drawing/2014/main" id="{A43566CA-E28A-4758-B656-13F767ECA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9517B8F0-793D-4F61-80A8-8CB87BC08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D139FBAF-C134-4E1A-9404-4C7FB029E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9DE9C77E-3EF1-4718-818D-55EA1600B7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alpha val="70000"/>
                </a:srgbClr>
              </a:solidFill>
            </a:ln>
          </p:spPr>
          <p:style>
            <a:lnRef idx="2">
              <a:schemeClr val="accent1"/>
            </a:lnRef>
            <a:fillRef idx="0">
              <a:schemeClr val="accent1"/>
            </a:fillRef>
            <a:effectRef idx="1">
              <a:schemeClr val="accent1"/>
            </a:effectRef>
            <a:fontRef idx="minor">
              <a:schemeClr val="tx1"/>
            </a:fontRef>
          </p:style>
        </p:cxnSp>
        <p:sp>
          <p:nvSpPr>
            <p:cNvPr id="16" name="Rectangle 28">
              <a:extLst>
                <a:ext uri="{FF2B5EF4-FFF2-40B4-BE49-F238E27FC236}">
                  <a16:creationId xmlns:a16="http://schemas.microsoft.com/office/drawing/2014/main" id="{DB10DB84-C347-472C-96BD-AD4340F03D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70CA661F-8359-442A-A42C-A0993AF8B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8" name="Straight Connector 17">
              <a:extLst>
                <a:ext uri="{FF2B5EF4-FFF2-40B4-BE49-F238E27FC236}">
                  <a16:creationId xmlns:a16="http://schemas.microsoft.com/office/drawing/2014/main" id="{A75C8E99-F0B8-466B-A892-9E0643EAF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alpha val="70000"/>
                </a:srgbClr>
              </a:solidFill>
            </a:ln>
          </p:spPr>
          <p:style>
            <a:lnRef idx="2">
              <a:schemeClr val="accent1"/>
            </a:lnRef>
            <a:fillRef idx="0">
              <a:schemeClr val="accent1"/>
            </a:fillRef>
            <a:effectRef idx="1">
              <a:schemeClr val="accent1"/>
            </a:effectRef>
            <a:fontRef idx="minor">
              <a:schemeClr val="tx1"/>
            </a:fontRef>
          </p:style>
        </p:cxnSp>
        <p:sp>
          <p:nvSpPr>
            <p:cNvPr id="19" name="Isosceles Triangle 18">
              <a:extLst>
                <a:ext uri="{FF2B5EF4-FFF2-40B4-BE49-F238E27FC236}">
                  <a16:creationId xmlns:a16="http://schemas.microsoft.com/office/drawing/2014/main" id="{65DD307C-66C1-4F16-86F5-287334F7B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44416C0-DB16-4364-B13C-2EC6F1A8A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677334" y="609600"/>
            <a:ext cx="8596668" cy="1320800"/>
          </a:xfrm>
        </p:spPr>
        <p:txBody>
          <a:bodyPr>
            <a:normAutofit/>
          </a:bodyPr>
          <a:lstStyle/>
          <a:p>
            <a:r>
              <a:rPr lang="en-US">
                <a:solidFill>
                  <a:srgbClr val="FFFFFF"/>
                </a:solidFill>
              </a:rPr>
              <a:t>“any” Drift</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677334" y="2160589"/>
            <a:ext cx="8596668" cy="3880773"/>
          </a:xfrm>
        </p:spPr>
        <p:txBody>
          <a:bodyPr>
            <a:normAutofit/>
          </a:bodyPr>
          <a:lstStyle/>
          <a:p>
            <a:pPr marL="0" indent="0">
              <a:buNone/>
            </a:pPr>
            <a:r>
              <a:rPr lang="en-US" b="1">
                <a:solidFill>
                  <a:srgbClr val="FFFFFF"/>
                </a:solidFill>
              </a:rPr>
              <a:t>Definition</a:t>
            </a:r>
            <a:r>
              <a:rPr lang="en-US">
                <a:solidFill>
                  <a:srgbClr val="FFFFFF"/>
                </a:solidFill>
              </a:rPr>
              <a:t>:  A typed codebase that started strict, accumulated escape hatches under deadline pressure, and is now untyped code in a costume.</a:t>
            </a:r>
          </a:p>
          <a:p>
            <a:pPr marL="0" indent="0">
              <a:buNone/>
            </a:pPr>
            <a:endParaRPr lang="en-US">
              <a:solidFill>
                <a:srgbClr val="FFFFFF"/>
              </a:solidFill>
            </a:endParaRPr>
          </a:p>
          <a:p>
            <a:pPr marL="0" indent="0">
              <a:buNone/>
            </a:pPr>
            <a:r>
              <a:rPr lang="en-US" b="1">
                <a:solidFill>
                  <a:srgbClr val="FFFFFF"/>
                </a:solidFill>
              </a:rPr>
              <a:t>Symptoms</a:t>
            </a:r>
            <a:r>
              <a:rPr lang="en-US">
                <a:solidFill>
                  <a:srgbClr val="FFFFFF"/>
                </a:solidFill>
              </a:rPr>
              <a:t>:  “any,” “object,” or unchecked casts proliferate.  Refactors that should be safe break at runtime.  Autocomplete stops being useful.  The compiler is satisfied; the runtime is not.</a:t>
            </a:r>
          </a:p>
          <a:p>
            <a:pPr marL="0" indent="0">
              <a:buNone/>
            </a:pPr>
            <a:endParaRPr lang="en-US">
              <a:solidFill>
                <a:srgbClr val="FFFFFF"/>
              </a:solidFill>
            </a:endParaRPr>
          </a:p>
          <a:p>
            <a:pPr marL="0" indent="0">
              <a:buNone/>
            </a:pPr>
            <a:r>
              <a:rPr lang="en-US" b="1">
                <a:solidFill>
                  <a:srgbClr val="FFFFFF"/>
                </a:solidFill>
              </a:rPr>
              <a:t>Solution</a:t>
            </a:r>
            <a:r>
              <a:rPr lang="en-US">
                <a:solidFill>
                  <a:srgbClr val="FFFFFF"/>
                </a:solidFill>
              </a:rPr>
              <a:t>:  Treat type escape hatches as technical debt with a name attached.  Enable lint rules that surface them.  Pay them down in small, deliberate passes — not in heroic week-long sprints that never get scheduled.</a:t>
            </a:r>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0" name="Straight Connector 9">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0" name="Rectangle 19">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Shape 35">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6287" y="-8467"/>
            <a:ext cx="9175713"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93D927-77EC-4551-94BC-A7ADD4F8A8E3}"/>
              </a:ext>
            </a:extLst>
          </p:cNvPr>
          <p:cNvSpPr>
            <a:spLocks noGrp="1"/>
          </p:cNvSpPr>
          <p:nvPr>
            <p:ph type="title"/>
          </p:nvPr>
        </p:nvSpPr>
        <p:spPr>
          <a:xfrm>
            <a:off x="4419136" y="1020871"/>
            <a:ext cx="6960759" cy="2849671"/>
          </a:xfrm>
        </p:spPr>
        <p:txBody>
          <a:bodyPr vert="horz" lIns="91440" tIns="45720" rIns="91440" bIns="45720" rtlCol="0" anchor="b">
            <a:normAutofit/>
          </a:bodyPr>
          <a:lstStyle/>
          <a:p>
            <a:r>
              <a:rPr lang="en-US" sz="6000" dirty="0">
                <a:solidFill>
                  <a:srgbClr val="FFFFFF"/>
                </a:solidFill>
              </a:rPr>
              <a:t>Methodological Anti-Patterns</a:t>
            </a:r>
          </a:p>
        </p:txBody>
      </p:sp>
      <p:sp>
        <p:nvSpPr>
          <p:cNvPr id="3" name="Text Placeholder 2">
            <a:extLst>
              <a:ext uri="{FF2B5EF4-FFF2-40B4-BE49-F238E27FC236}">
                <a16:creationId xmlns:a16="http://schemas.microsoft.com/office/drawing/2014/main" id="{36B537E0-88E8-4E65-813D-D4CF7FFA0D00}"/>
              </a:ext>
            </a:extLst>
          </p:cNvPr>
          <p:cNvSpPr>
            <a:spLocks noGrp="1"/>
          </p:cNvSpPr>
          <p:nvPr>
            <p:ph type="body" idx="1"/>
          </p:nvPr>
        </p:nvSpPr>
        <p:spPr>
          <a:xfrm>
            <a:off x="4456386" y="3962088"/>
            <a:ext cx="6203795" cy="1186108"/>
          </a:xfrm>
        </p:spPr>
        <p:txBody>
          <a:bodyPr vert="horz" lIns="91440" tIns="45720" rIns="91440" bIns="45720" rtlCol="0" anchor="t">
            <a:normAutofit/>
          </a:bodyPr>
          <a:lstStyle/>
          <a:p>
            <a:r>
              <a:rPr lang="en-US" sz="1800">
                <a:solidFill>
                  <a:srgbClr val="FFFFFF">
                    <a:alpha val="70000"/>
                  </a:srgbClr>
                </a:solidFill>
              </a:rPr>
              <a:t>The wrong way to </a:t>
            </a:r>
            <a:r>
              <a:rPr lang="en-US" sz="1800" i="1">
                <a:solidFill>
                  <a:srgbClr val="FFFFFF">
                    <a:alpha val="70000"/>
                  </a:srgbClr>
                </a:solidFill>
              </a:rPr>
              <a:t>actually </a:t>
            </a:r>
            <a:r>
              <a:rPr lang="en-US" sz="1800">
                <a:solidFill>
                  <a:srgbClr val="FFFFFF">
                    <a:alpha val="70000"/>
                  </a:srgbClr>
                </a:solidFill>
              </a:rPr>
              <a:t>code.</a:t>
            </a:r>
          </a:p>
        </p:txBody>
      </p:sp>
      <p:sp>
        <p:nvSpPr>
          <p:cNvPr id="38" name="Isosceles Triangle 37">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2562" y="3271487"/>
            <a:ext cx="220660" cy="1864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8275230"/>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7B56463-D598-2D05-523B-F268D5871226}"/>
              </a:ext>
            </a:extLst>
          </p:cNvPr>
          <p:cNvSpPr txBox="1">
            <a:spLocks/>
          </p:cNvSpPr>
          <p:nvPr/>
        </p:nvSpPr>
        <p:spPr>
          <a:xfrm>
            <a:off x="709702" y="641968"/>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chemeClr val="accent1">
                    <a:lumMod val="60000"/>
                    <a:lumOff val="40000"/>
                  </a:schemeClr>
                </a:solidFill>
              </a:rPr>
              <a:t>Copy-and-Paste Programming</a:t>
            </a:r>
            <a:endParaRPr lang="en-US" dirty="0">
              <a:solidFill>
                <a:schemeClr val="accent1">
                  <a:lumMod val="60000"/>
                  <a:lumOff val="40000"/>
                </a:schemeClr>
              </a:solidFill>
            </a:endParaRPr>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p:txBody>
          <a:bodyPr/>
          <a:lstStyle/>
          <a:p>
            <a:r>
              <a:rPr lang="en-US" dirty="0"/>
              <a:t>Copy-and-Paste Programming</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p:txBody>
          <a:bodyPr>
            <a:normAutofit fontScale="92500" lnSpcReduction="20000"/>
          </a:bodyPr>
          <a:lstStyle/>
          <a:p>
            <a:pPr marL="0" indent="0">
              <a:buNone/>
            </a:pPr>
            <a:r>
              <a:rPr lang="en-US" b="1" dirty="0"/>
              <a:t>Definition</a:t>
            </a:r>
            <a:r>
              <a:rPr lang="en-US" dirty="0"/>
              <a:t>:  Copying and modifying existing code rather than creating generic solutions.</a:t>
            </a:r>
          </a:p>
          <a:p>
            <a:pPr marL="0" indent="0">
              <a:buNone/>
            </a:pPr>
            <a:endParaRPr lang="en-US" dirty="0"/>
          </a:p>
          <a:p>
            <a:pPr marL="0" indent="0">
              <a:buNone/>
            </a:pPr>
            <a:r>
              <a:rPr lang="en-US" b="1" dirty="0"/>
              <a:t>Symptoms</a:t>
            </a:r>
            <a:r>
              <a:rPr lang="en-US" dirty="0"/>
              <a:t>:  Seems obvious.</a:t>
            </a:r>
          </a:p>
          <a:p>
            <a:pPr marL="0" indent="0">
              <a:buNone/>
            </a:pPr>
            <a:endParaRPr lang="en-US" dirty="0"/>
          </a:p>
          <a:p>
            <a:pPr marL="0" indent="0">
              <a:buNone/>
            </a:pPr>
            <a:r>
              <a:rPr lang="en-US" b="1" dirty="0"/>
              <a:t>Discussion Point</a:t>
            </a:r>
            <a:r>
              <a:rPr lang="en-US" dirty="0"/>
              <a:t>:  The often occurs with inexperienced programmers who find writing their own solutions difficult or irritating.  This also occurs when people “Google” a solution to a problem, and then don’t actually take the time to understand the code they have found.</a:t>
            </a:r>
            <a:endParaRPr lang="en-US" b="1" dirty="0"/>
          </a:p>
          <a:p>
            <a:pPr marL="0" indent="0">
              <a:buNone/>
            </a:pPr>
            <a:endParaRPr lang="en-US" dirty="0"/>
          </a:p>
          <a:p>
            <a:pPr marL="0" indent="0">
              <a:buNone/>
            </a:pPr>
            <a:r>
              <a:rPr lang="en-US" b="1" dirty="0"/>
              <a:t>Solution</a:t>
            </a:r>
            <a:r>
              <a:rPr lang="en-US" dirty="0"/>
              <a:t>: Have courage when programming.  Write solutions.  Learn from the experience.</a:t>
            </a:r>
            <a:br>
              <a:rPr lang="en-US" dirty="0"/>
            </a:br>
            <a:br>
              <a:rPr lang="en-US" dirty="0"/>
            </a:br>
            <a:r>
              <a:rPr lang="en-US" b="1" dirty="0"/>
              <a:t>Caveat</a:t>
            </a:r>
            <a:r>
              <a:rPr lang="en-US" dirty="0"/>
              <a:t>:  This is probably OK for boilerplate ONLY.  I still prefer snippets, though.</a:t>
            </a:r>
          </a:p>
        </p:txBody>
      </p:sp>
    </p:spTree>
    <p:extLst>
      <p:ext uri="{BB962C8B-B14F-4D97-AF65-F5344CB8AC3E}">
        <p14:creationId xmlns:p14="http://schemas.microsoft.com/office/powerpoint/2010/main" val="108796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7181723" y="609600"/>
            <a:ext cx="4512989" cy="2227730"/>
          </a:xfrm>
        </p:spPr>
        <p:txBody>
          <a:bodyPr anchor="ctr">
            <a:normAutofit/>
          </a:bodyPr>
          <a:lstStyle/>
          <a:p>
            <a:r>
              <a:rPr lang="en-US">
                <a:solidFill>
                  <a:srgbClr val="FFFFFF"/>
                </a:solidFill>
              </a:rPr>
              <a:t>The Golden Hammer, or “Law of Instrument”</a:t>
            </a:r>
          </a:p>
        </p:txBody>
      </p:sp>
      <p:pic>
        <p:nvPicPr>
          <p:cNvPr id="7" name="Graphic 6" descr="Hammer">
            <a:extLst>
              <a:ext uri="{FF2B5EF4-FFF2-40B4-BE49-F238E27FC236}">
                <a16:creationId xmlns:a16="http://schemas.microsoft.com/office/drawing/2014/main" id="{6EF63223-DB62-58EB-216E-0DF535587A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51" y="1545062"/>
            <a:ext cx="3856774" cy="3856774"/>
          </a:xfrm>
          <a:prstGeom prst="rect">
            <a:avLst/>
          </a:prstGeom>
        </p:spPr>
      </p:pic>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7181725" y="2837329"/>
            <a:ext cx="4512988" cy="3317938"/>
          </a:xfrm>
        </p:spPr>
        <p:txBody>
          <a:bodyPr anchor="t">
            <a:normAutofit/>
          </a:bodyPr>
          <a:lstStyle/>
          <a:p>
            <a:pPr marL="0" indent="0">
              <a:lnSpc>
                <a:spcPct val="90000"/>
              </a:lnSpc>
              <a:buNone/>
            </a:pPr>
            <a:r>
              <a:rPr lang="en-US" sz="1300" b="1">
                <a:solidFill>
                  <a:srgbClr val="FFFFFF"/>
                </a:solidFill>
              </a:rPr>
              <a:t>Definition</a:t>
            </a:r>
            <a:r>
              <a:rPr lang="en-US" sz="1300">
                <a:solidFill>
                  <a:srgbClr val="FFFFFF"/>
                </a:solidFill>
              </a:rPr>
              <a:t>:  A cognitive bias that involves over-reliance on a familiar tool.  “If all you have is a hammer, everything looks like a nail.”</a:t>
            </a:r>
          </a:p>
          <a:p>
            <a:pPr marL="0" indent="0">
              <a:lnSpc>
                <a:spcPct val="90000"/>
              </a:lnSpc>
              <a:buNone/>
            </a:pPr>
            <a:endParaRPr lang="en-US" sz="1300">
              <a:solidFill>
                <a:srgbClr val="FFFFFF"/>
              </a:solidFill>
            </a:endParaRPr>
          </a:p>
          <a:p>
            <a:pPr marL="0" indent="0">
              <a:lnSpc>
                <a:spcPct val="90000"/>
              </a:lnSpc>
              <a:buNone/>
            </a:pPr>
            <a:r>
              <a:rPr lang="en-US" sz="1300" b="1">
                <a:solidFill>
                  <a:srgbClr val="FFFFFF"/>
                </a:solidFill>
              </a:rPr>
              <a:t>Symptoms</a:t>
            </a:r>
            <a:r>
              <a:rPr lang="en-US" sz="1300">
                <a:solidFill>
                  <a:srgbClr val="FFFFFF"/>
                </a:solidFill>
              </a:rPr>
              <a:t>:  You are trying to use your favorite language or library to solve a problem and having more trouble than expected.  You spent a lot of money on a tool and now need to justify the cost.</a:t>
            </a:r>
          </a:p>
          <a:p>
            <a:pPr marL="0" indent="0">
              <a:lnSpc>
                <a:spcPct val="90000"/>
              </a:lnSpc>
              <a:buNone/>
            </a:pPr>
            <a:endParaRPr lang="en-US" sz="1300">
              <a:solidFill>
                <a:srgbClr val="FFFFFF"/>
              </a:solidFill>
            </a:endParaRPr>
          </a:p>
          <a:p>
            <a:pPr marL="0" indent="0">
              <a:lnSpc>
                <a:spcPct val="90000"/>
              </a:lnSpc>
              <a:buNone/>
            </a:pPr>
            <a:r>
              <a:rPr lang="en-US" sz="1300" b="1">
                <a:solidFill>
                  <a:srgbClr val="FFFFFF"/>
                </a:solidFill>
              </a:rPr>
              <a:t>Solution</a:t>
            </a:r>
            <a:r>
              <a:rPr lang="en-US" sz="1300">
                <a:solidFill>
                  <a:srgbClr val="FFFFFF"/>
                </a:solidFill>
              </a:rPr>
              <a:t>:  When approaching problems of a nature that is new to you, </a:t>
            </a:r>
            <a:r>
              <a:rPr lang="en-US" sz="1300" i="1">
                <a:solidFill>
                  <a:srgbClr val="FFFFFF"/>
                </a:solidFill>
              </a:rPr>
              <a:t>do the research</a:t>
            </a:r>
            <a:r>
              <a:rPr lang="en-US" sz="1300">
                <a:solidFill>
                  <a:srgbClr val="FFFFFF"/>
                </a:solidFill>
              </a:rPr>
              <a:t> to see if there are existing tool that efficiently address that problem.  Don’t worry about appearing ignorant and </a:t>
            </a:r>
            <a:r>
              <a:rPr lang="en-US" sz="1300" i="1">
                <a:solidFill>
                  <a:srgbClr val="FFFFFF"/>
                </a:solidFill>
              </a:rPr>
              <a:t>ask questions</a:t>
            </a:r>
            <a:r>
              <a:rPr lang="en-US" sz="1300">
                <a:solidFill>
                  <a:srgbClr val="FFFFFF"/>
                </a:solidFill>
              </a:rPr>
              <a:t>.  You will look </a:t>
            </a:r>
            <a:r>
              <a:rPr lang="en-US" sz="1300" i="1">
                <a:solidFill>
                  <a:srgbClr val="FFFFFF"/>
                </a:solidFill>
              </a:rPr>
              <a:t>more</a:t>
            </a:r>
            <a:r>
              <a:rPr lang="en-US" sz="1300">
                <a:solidFill>
                  <a:srgbClr val="FFFFFF"/>
                </a:solidFill>
              </a:rPr>
              <a:t> ignorant if you try to drive a screw with a hammer than if you ask how to drive a screw.</a:t>
            </a:r>
          </a:p>
        </p:txBody>
      </p:sp>
    </p:spTree>
    <p:extLst>
      <p:ext uri="{BB962C8B-B14F-4D97-AF65-F5344CB8AC3E}">
        <p14:creationId xmlns:p14="http://schemas.microsoft.com/office/powerpoint/2010/main" val="403628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a:xfrm>
            <a:off x="5536734" y="609600"/>
            <a:ext cx="3737268" cy="1320800"/>
          </a:xfrm>
        </p:spPr>
        <p:txBody>
          <a:bodyPr>
            <a:normAutofit/>
          </a:bodyPr>
          <a:lstStyle/>
          <a:p>
            <a:r>
              <a:rPr lang="en-US" dirty="0"/>
              <a:t>Not Invented Here</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500" b="1"/>
              <a:t>Definition</a:t>
            </a:r>
            <a:r>
              <a:rPr lang="en-US" sz="1500"/>
              <a:t>:  The tendency towards reinventing the wheel.</a:t>
            </a:r>
          </a:p>
          <a:p>
            <a:pPr marL="0" indent="0">
              <a:lnSpc>
                <a:spcPct val="90000"/>
              </a:lnSpc>
              <a:buNone/>
            </a:pPr>
            <a:endParaRPr lang="en-US" sz="1500"/>
          </a:p>
          <a:p>
            <a:pPr marL="0" indent="0">
              <a:lnSpc>
                <a:spcPct val="90000"/>
              </a:lnSpc>
              <a:buNone/>
            </a:pPr>
            <a:r>
              <a:rPr lang="en-US" sz="1500" b="1"/>
              <a:t>Symptoms</a:t>
            </a:r>
            <a:r>
              <a:rPr lang="en-US" sz="1500"/>
              <a:t>:  There is an adequate, existing solution to your problem and you either chose not to look for it, or not to use it when doing so would have been reasonable.</a:t>
            </a:r>
          </a:p>
          <a:p>
            <a:pPr marL="0" indent="0">
              <a:lnSpc>
                <a:spcPct val="90000"/>
              </a:lnSpc>
              <a:buNone/>
            </a:pPr>
            <a:endParaRPr lang="en-US" sz="1500"/>
          </a:p>
          <a:p>
            <a:pPr marL="0" indent="0">
              <a:lnSpc>
                <a:spcPct val="90000"/>
              </a:lnSpc>
              <a:buNone/>
            </a:pPr>
            <a:r>
              <a:rPr lang="en-US" sz="1500" b="1"/>
              <a:t>Solution</a:t>
            </a:r>
            <a:r>
              <a:rPr lang="en-US" sz="1500"/>
              <a:t>:  If you are working on something that seems like it might be a common problem, check for an existing solution.</a:t>
            </a:r>
          </a:p>
          <a:p>
            <a:pPr marL="0" indent="0">
              <a:lnSpc>
                <a:spcPct val="90000"/>
              </a:lnSpc>
              <a:buNone/>
            </a:pPr>
            <a:endParaRPr lang="en-US" sz="1500"/>
          </a:p>
          <a:p>
            <a:pPr marL="0" indent="0">
              <a:lnSpc>
                <a:spcPct val="90000"/>
              </a:lnSpc>
              <a:buNone/>
            </a:pPr>
            <a:r>
              <a:rPr lang="en-US" sz="1500" b="1"/>
              <a:t>Example</a:t>
            </a:r>
            <a:r>
              <a:rPr lang="en-US" sz="1500"/>
              <a:t>:  PDF Tools for </a:t>
            </a:r>
            <a:r>
              <a:rPr lang="en-US" sz="1500" err="1"/>
              <a:t>.Net</a:t>
            </a:r>
            <a:r>
              <a:rPr lang="en-US" sz="1500"/>
              <a:t>.</a:t>
            </a:r>
            <a:endParaRPr lang="en-US" sz="1500" b="1"/>
          </a:p>
        </p:txBody>
      </p:sp>
      <p:pic>
        <p:nvPicPr>
          <p:cNvPr id="5" name="Picture 4" descr="Isolated image of a spiral light on a black background">
            <a:extLst>
              <a:ext uri="{FF2B5EF4-FFF2-40B4-BE49-F238E27FC236}">
                <a16:creationId xmlns:a16="http://schemas.microsoft.com/office/drawing/2014/main" id="{DFFE7AAC-FC89-A145-68AB-6AC12CAF44A7}"/>
              </a:ext>
            </a:extLst>
          </p:cNvPr>
          <p:cNvPicPr>
            <a:picLocks noChangeAspect="1"/>
          </p:cNvPicPr>
          <p:nvPr/>
        </p:nvPicPr>
        <p:blipFill>
          <a:blip r:embed="rId2"/>
          <a:srcRect l="15671" r="31818"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9337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a:xfrm>
            <a:off x="5536734" y="609600"/>
            <a:ext cx="3737268" cy="1320800"/>
          </a:xfrm>
        </p:spPr>
        <p:txBody>
          <a:bodyPr>
            <a:normAutofit/>
          </a:bodyPr>
          <a:lstStyle/>
          <a:p>
            <a:r>
              <a:rPr lang="en-US" dirty="0"/>
              <a:t>Reinventing the Square Wheel</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b="1" dirty="0"/>
              <a:t>Definition</a:t>
            </a:r>
            <a:r>
              <a:rPr lang="en-US" dirty="0"/>
              <a:t>:  Failure to adopt an existing solution, but </a:t>
            </a:r>
            <a:r>
              <a:rPr lang="en-US" i="1" dirty="0"/>
              <a:t>also</a:t>
            </a:r>
            <a:r>
              <a:rPr lang="en-US" dirty="0"/>
              <a:t> creating a much worse solution.</a:t>
            </a:r>
            <a:endParaRPr lang="en-US"/>
          </a:p>
          <a:p>
            <a:pPr marL="0" indent="0">
              <a:lnSpc>
                <a:spcPct val="90000"/>
              </a:lnSpc>
              <a:buNone/>
            </a:pPr>
            <a:endParaRPr lang="en-US"/>
          </a:p>
          <a:p>
            <a:pPr marL="0" indent="0">
              <a:lnSpc>
                <a:spcPct val="90000"/>
              </a:lnSpc>
              <a:buNone/>
            </a:pPr>
            <a:r>
              <a:rPr lang="en-US" b="1" dirty="0"/>
              <a:t>Symptoms</a:t>
            </a:r>
            <a:r>
              <a:rPr lang="en-US" dirty="0"/>
              <a:t>:  You are </a:t>
            </a:r>
            <a:r>
              <a:rPr lang="en-US" i="1" dirty="0"/>
              <a:t>really struggling</a:t>
            </a:r>
            <a:r>
              <a:rPr lang="en-US" dirty="0"/>
              <a:t> on something that seems like it might be a common problem.</a:t>
            </a:r>
            <a:endParaRPr lang="en-US"/>
          </a:p>
          <a:p>
            <a:pPr marL="0" indent="0">
              <a:lnSpc>
                <a:spcPct val="90000"/>
              </a:lnSpc>
              <a:buNone/>
            </a:pPr>
            <a:endParaRPr lang="en-US"/>
          </a:p>
          <a:p>
            <a:pPr marL="0" indent="0">
              <a:lnSpc>
                <a:spcPct val="90000"/>
              </a:lnSpc>
              <a:buNone/>
            </a:pPr>
            <a:r>
              <a:rPr lang="en-US" b="1" dirty="0"/>
              <a:t>Solution</a:t>
            </a:r>
            <a:r>
              <a:rPr lang="en-US" dirty="0"/>
              <a:t>:  When you are out of your depth, admit it.  Enlist help.  Find a good solution and use it, but also study it to improve yourself.</a:t>
            </a:r>
            <a:endParaRPr lang="en-US"/>
          </a:p>
        </p:txBody>
      </p:sp>
      <p:pic>
        <p:nvPicPr>
          <p:cNvPr id="11" name="Picture 10" descr="Person adjusting engine">
            <a:extLst>
              <a:ext uri="{FF2B5EF4-FFF2-40B4-BE49-F238E27FC236}">
                <a16:creationId xmlns:a16="http://schemas.microsoft.com/office/drawing/2014/main" id="{C2C9FAE6-1FA0-FF11-65C7-0BC0E8BACDB5}"/>
              </a:ext>
            </a:extLst>
          </p:cNvPr>
          <p:cNvPicPr>
            <a:picLocks noChangeAspect="1"/>
          </p:cNvPicPr>
          <p:nvPr/>
        </p:nvPicPr>
        <p:blipFill>
          <a:blip r:embed="rId2"/>
          <a:srcRect l="16146" r="31343"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2" name="Isosceles Triangle 1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6647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1132311-1CA8-4A55-8746-2B003A85E5CC}"/>
              </a:ext>
            </a:extLst>
          </p:cNvPr>
          <p:cNvSpPr>
            <a:spLocks noGrp="1"/>
          </p:cNvSpPr>
          <p:nvPr>
            <p:ph type="title"/>
          </p:nvPr>
        </p:nvSpPr>
        <p:spPr>
          <a:xfrm>
            <a:off x="643467" y="816638"/>
            <a:ext cx="3367359" cy="5224724"/>
          </a:xfrm>
        </p:spPr>
        <p:txBody>
          <a:bodyPr anchor="ctr">
            <a:normAutofit/>
          </a:bodyPr>
          <a:lstStyle/>
          <a:p>
            <a:r>
              <a:rPr lang="en-US" dirty="0"/>
              <a:t>Premature Optimization</a:t>
            </a:r>
          </a:p>
        </p:txBody>
      </p:sp>
      <p:sp>
        <p:nvSpPr>
          <p:cNvPr id="3" name="Content Placeholder 2">
            <a:extLst>
              <a:ext uri="{FF2B5EF4-FFF2-40B4-BE49-F238E27FC236}">
                <a16:creationId xmlns:a16="http://schemas.microsoft.com/office/drawing/2014/main" id="{DCE245D3-410D-4D99-8F05-E3A42D24C4C6}"/>
              </a:ext>
            </a:extLst>
          </p:cNvPr>
          <p:cNvSpPr>
            <a:spLocks noGrp="1"/>
          </p:cNvSpPr>
          <p:nvPr>
            <p:ph idx="1"/>
          </p:nvPr>
        </p:nvSpPr>
        <p:spPr>
          <a:xfrm>
            <a:off x="4654295" y="816638"/>
            <a:ext cx="4619706" cy="5224724"/>
          </a:xfrm>
        </p:spPr>
        <p:txBody>
          <a:bodyPr anchor="ctr">
            <a:normAutofit/>
          </a:bodyPr>
          <a:lstStyle/>
          <a:p>
            <a:pPr marL="0" indent="0">
              <a:lnSpc>
                <a:spcPct val="90000"/>
              </a:lnSpc>
              <a:buNone/>
            </a:pPr>
            <a:r>
              <a:rPr lang="en-US" sz="1500" b="1"/>
              <a:t>Definition</a:t>
            </a:r>
            <a:r>
              <a:rPr lang="en-US" sz="1500"/>
              <a:t>:  Coding early on for perceived efficiency, sacrificing good design, maintainability, and (often) even real-world efficiency.</a:t>
            </a:r>
          </a:p>
          <a:p>
            <a:pPr marL="0" indent="0">
              <a:lnSpc>
                <a:spcPct val="90000"/>
              </a:lnSpc>
              <a:buNone/>
            </a:pPr>
            <a:endParaRPr lang="en-US" sz="1500"/>
          </a:p>
          <a:p>
            <a:pPr marL="0" indent="0">
              <a:lnSpc>
                <a:spcPct val="90000"/>
              </a:lnSpc>
              <a:buNone/>
            </a:pPr>
            <a:r>
              <a:rPr lang="en-US" sz="1500" b="1"/>
              <a:t>Symptoms</a:t>
            </a:r>
            <a:r>
              <a:rPr lang="en-US" sz="1500"/>
              <a:t>:  You are adding code that is only intended to increase performance.  In self-review, you discover that your code is difficult to read or comprehend, and will be difficult for others to approach.</a:t>
            </a:r>
          </a:p>
          <a:p>
            <a:pPr marL="0" indent="0">
              <a:lnSpc>
                <a:spcPct val="90000"/>
              </a:lnSpc>
              <a:buNone/>
            </a:pPr>
            <a:endParaRPr lang="en-US" sz="1500"/>
          </a:p>
          <a:p>
            <a:pPr marL="0" indent="0">
              <a:lnSpc>
                <a:spcPct val="90000"/>
              </a:lnSpc>
              <a:buNone/>
            </a:pPr>
            <a:r>
              <a:rPr lang="en-US" sz="1500" b="1"/>
              <a:t>Discussion Point</a:t>
            </a:r>
            <a:r>
              <a:rPr lang="en-US" sz="1500"/>
              <a:t>:  Jackson’s Rules of Optimization</a:t>
            </a:r>
          </a:p>
          <a:p>
            <a:pPr marL="0" indent="0">
              <a:lnSpc>
                <a:spcPct val="90000"/>
              </a:lnSpc>
              <a:buNone/>
            </a:pPr>
            <a:endParaRPr lang="en-US" sz="1500"/>
          </a:p>
          <a:p>
            <a:pPr marL="0" indent="0">
              <a:lnSpc>
                <a:spcPct val="90000"/>
              </a:lnSpc>
              <a:buNone/>
            </a:pPr>
            <a:r>
              <a:rPr lang="en-US" sz="1500" b="1"/>
              <a:t>Solution</a:t>
            </a:r>
            <a:r>
              <a:rPr lang="en-US" sz="1500"/>
              <a:t>:  There is no need to </a:t>
            </a:r>
            <a:r>
              <a:rPr lang="en-US" sz="1500" i="1"/>
              <a:t>neglect</a:t>
            </a:r>
            <a:r>
              <a:rPr lang="en-US" sz="1500"/>
              <a:t> performance in your design, but do the design work.  Prefer maintainability where it is reasonable to do so.  Only spend time in deep optimization in actual performance-critical code.</a:t>
            </a:r>
          </a:p>
        </p:txBody>
      </p:sp>
    </p:spTree>
    <p:extLst>
      <p:ext uri="{BB962C8B-B14F-4D97-AF65-F5344CB8AC3E}">
        <p14:creationId xmlns:p14="http://schemas.microsoft.com/office/powerpoint/2010/main" val="56615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LGTM Culture</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300" b="1"/>
              <a:t>Definition</a:t>
            </a:r>
            <a:r>
              <a:rPr lang="en-US" sz="1300"/>
              <a:t>:  Pull requests approved without being read, because the queue is long and the author is senior.</a:t>
            </a:r>
          </a:p>
          <a:p>
            <a:pPr marL="0" indent="0">
              <a:lnSpc>
                <a:spcPct val="90000"/>
              </a:lnSpc>
              <a:buNone/>
            </a:pPr>
            <a:endParaRPr lang="en-US" sz="1300"/>
          </a:p>
          <a:p>
            <a:pPr marL="0" indent="0">
              <a:lnSpc>
                <a:spcPct val="90000"/>
              </a:lnSpc>
              <a:buNone/>
            </a:pPr>
            <a:r>
              <a:rPr lang="en-US" sz="1300" b="1"/>
              <a:t>Symptoms</a:t>
            </a:r>
            <a:r>
              <a:rPr lang="en-US" sz="1300"/>
              <a:t>:  Reviews come back in minutes, regardless of diff size.  Comments are rare and almost always cosmetic.  Defects that a careful reader would catch reach production.  Code review has become ceremony rather than control.</a:t>
            </a:r>
          </a:p>
          <a:p>
            <a:pPr marL="0" indent="0">
              <a:lnSpc>
                <a:spcPct val="90000"/>
              </a:lnSpc>
              <a:buNone/>
            </a:pPr>
            <a:endParaRPr lang="en-US" sz="1300"/>
          </a:p>
          <a:p>
            <a:pPr marL="0" indent="0">
              <a:lnSpc>
                <a:spcPct val="90000"/>
              </a:lnSpc>
              <a:buNone/>
            </a:pPr>
            <a:r>
              <a:rPr lang="en-US" sz="1300" b="1"/>
              <a:t>Solution</a:t>
            </a:r>
            <a:r>
              <a:rPr lang="en-US" sz="1300"/>
              <a:t>:  Make review quality visible:  track defects caught, questions asked, and changes requested.  Cap PR size so reading is realistic.  Rotate reviewers so no one is permanently downstream of the same author.  Make “I do not understand this yet” an acceptable review comment.</a:t>
            </a:r>
          </a:p>
        </p:txBody>
      </p:sp>
      <p:pic>
        <p:nvPicPr>
          <p:cNvPr id="5" name="Picture 4">
            <a:extLst>
              <a:ext uri="{FF2B5EF4-FFF2-40B4-BE49-F238E27FC236}">
                <a16:creationId xmlns:a16="http://schemas.microsoft.com/office/drawing/2014/main" id="{BAB47F6A-2F4C-67BA-6765-4E846B1183B3}"/>
              </a:ext>
            </a:extLst>
          </p:cNvPr>
          <p:cNvPicPr>
            <a:picLocks noChangeAspect="1"/>
          </p:cNvPicPr>
          <p:nvPr/>
        </p:nvPicPr>
        <p:blipFill>
          <a:blip r:embed="rId2"/>
          <a:srcRect l="16896" r="38854"/>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5536734" y="609600"/>
            <a:ext cx="3737268" cy="1320800"/>
          </a:xfrm>
        </p:spPr>
        <p:txBody>
          <a:bodyPr>
            <a:normAutofit/>
          </a:bodyPr>
          <a:lstStyle/>
          <a:p>
            <a:r>
              <a:rPr lang="en-US" dirty="0"/>
              <a:t>Feature Flag Sprawl</a:t>
            </a:r>
          </a:p>
        </p:txBody>
      </p: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400" b="1"/>
              <a:t>Definition</a:t>
            </a:r>
            <a:r>
              <a:rPr lang="en-US" sz="1400"/>
              <a:t>:  Flags accumulated faster than they are retired.  Production behavior becomes a Boolean algebra problem no one on the team can solve on a whiteboard.</a:t>
            </a:r>
          </a:p>
          <a:p>
            <a:pPr marL="0" indent="0">
              <a:lnSpc>
                <a:spcPct val="90000"/>
              </a:lnSpc>
              <a:buNone/>
            </a:pPr>
            <a:endParaRPr lang="en-US" sz="1400"/>
          </a:p>
          <a:p>
            <a:pPr marL="0" indent="0">
              <a:lnSpc>
                <a:spcPct val="90000"/>
              </a:lnSpc>
              <a:buNone/>
            </a:pPr>
            <a:r>
              <a:rPr lang="en-US" sz="1400" b="1"/>
              <a:t>Symptoms</a:t>
            </a:r>
            <a:r>
              <a:rPr lang="en-US" sz="1400"/>
              <a:t>:  Flags outlive the features they gated.  Multiple flags interact in undocumented ways.  Debugging requires asking which flags are on for which users.  Removing a flag is treated as a project, not a cleanup.</a:t>
            </a:r>
          </a:p>
          <a:p>
            <a:pPr marL="0" indent="0">
              <a:lnSpc>
                <a:spcPct val="90000"/>
              </a:lnSpc>
              <a:buNone/>
            </a:pPr>
            <a:endParaRPr lang="en-US" sz="1400"/>
          </a:p>
          <a:p>
            <a:pPr marL="0" indent="0">
              <a:lnSpc>
                <a:spcPct val="90000"/>
              </a:lnSpc>
              <a:buNone/>
            </a:pPr>
            <a:r>
              <a:rPr lang="en-US" sz="1400" b="1"/>
              <a:t>Solution</a:t>
            </a:r>
            <a:r>
              <a:rPr lang="en-US" sz="1400"/>
              <a:t>:  Give every flag an owner and an expiration date at creation.  Track flag age the way you track open bugs.  Retire flags as a recurring item on the team’s plate, not a heroic effort once a year.  Default to off; opt in to permanence.</a:t>
            </a:r>
          </a:p>
        </p:txBody>
      </p:sp>
      <p:pic>
        <p:nvPicPr>
          <p:cNvPr id="5" name="Picture 4" descr="A wall covered with sticky notes.">
            <a:extLst>
              <a:ext uri="{FF2B5EF4-FFF2-40B4-BE49-F238E27FC236}">
                <a16:creationId xmlns:a16="http://schemas.microsoft.com/office/drawing/2014/main" id="{2A0C3CD3-46F3-7733-14C2-2F07AF1D1D6C}"/>
              </a:ext>
            </a:extLst>
          </p:cNvPr>
          <p:cNvPicPr>
            <a:picLocks noChangeAspect="1"/>
          </p:cNvPicPr>
          <p:nvPr/>
        </p:nvPicPr>
        <p:blipFill>
          <a:blip r:embed="rId2"/>
          <a:srcRect l="23558" r="27669" b="-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7A6AA-3D7D-436F-8C45-2F3913862AE6}"/>
              </a:ext>
            </a:extLst>
          </p:cNvPr>
          <p:cNvSpPr>
            <a:spLocks noGrp="1"/>
          </p:cNvSpPr>
          <p:nvPr>
            <p:ph type="title"/>
          </p:nvPr>
        </p:nvSpPr>
        <p:spPr>
          <a:xfrm>
            <a:off x="1333502" y="609600"/>
            <a:ext cx="8596668" cy="1320800"/>
          </a:xfrm>
        </p:spPr>
        <p:txBody>
          <a:bodyPr>
            <a:normAutofit/>
          </a:bodyPr>
          <a:lstStyle/>
          <a:p>
            <a:r>
              <a:rPr lang="en-US" dirty="0"/>
              <a:t>Prompt-and-Pray</a:t>
            </a:r>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D783A298-9DFF-4DDD-B129-3601707544A0}"/>
              </a:ext>
            </a:extLst>
          </p:cNvPr>
          <p:cNvSpPr>
            <a:spLocks noGrp="1"/>
          </p:cNvSpPr>
          <p:nvPr>
            <p:ph idx="1"/>
          </p:nvPr>
        </p:nvSpPr>
        <p:spPr>
          <a:xfrm>
            <a:off x="1333502" y="2160590"/>
            <a:ext cx="8470898" cy="3429260"/>
          </a:xfrm>
        </p:spPr>
        <p:txBody>
          <a:bodyPr>
            <a:normAutofit/>
          </a:bodyPr>
          <a:lstStyle/>
          <a:p>
            <a:pPr marL="0" indent="0">
              <a:lnSpc>
                <a:spcPct val="90000"/>
              </a:lnSpc>
              <a:buNone/>
            </a:pPr>
            <a:r>
              <a:rPr lang="en-US" b="1" dirty="0"/>
              <a:t>Definition</a:t>
            </a:r>
            <a:r>
              <a:rPr lang="en-US" dirty="0"/>
              <a:t>:  Asking an AI assistant for a solution, accepting the first answer, and shipping it.  Copy-and-Paste Programming’s nephew, except the source confabulated and cannot be subpoenaed.</a:t>
            </a:r>
            <a:endParaRPr lang="en-US"/>
          </a:p>
          <a:p>
            <a:pPr marL="0" indent="0">
              <a:lnSpc>
                <a:spcPct val="90000"/>
              </a:lnSpc>
              <a:buNone/>
            </a:pPr>
            <a:endParaRPr lang="en-US"/>
          </a:p>
          <a:p>
            <a:pPr marL="0" indent="0">
              <a:lnSpc>
                <a:spcPct val="90000"/>
              </a:lnSpc>
              <a:buNone/>
            </a:pPr>
            <a:r>
              <a:rPr lang="en-US" b="1" dirty="0"/>
              <a:t>Symptoms</a:t>
            </a:r>
            <a:r>
              <a:rPr lang="en-US" dirty="0"/>
              <a:t>:  API calls are made to functions that do not exist.  Library versions are wrong.  Security advice is plausible and incorrect.  The author cannot explain the code beyond pointing at the prompt.</a:t>
            </a:r>
            <a:endParaRPr lang="en-US"/>
          </a:p>
          <a:p>
            <a:pPr marL="0" indent="0">
              <a:lnSpc>
                <a:spcPct val="90000"/>
              </a:lnSpc>
              <a:buNone/>
            </a:pPr>
            <a:endParaRPr lang="en-US"/>
          </a:p>
          <a:p>
            <a:pPr marL="0" indent="0">
              <a:lnSpc>
                <a:spcPct val="90000"/>
              </a:lnSpc>
              <a:buNone/>
            </a:pPr>
            <a:r>
              <a:rPr lang="en-US" b="1" dirty="0"/>
              <a:t>Solution</a:t>
            </a:r>
            <a:r>
              <a:rPr lang="en-US" dirty="0"/>
              <a:t>:  Verify before you trust.  Run the code.  Read the docs the model claimed to cite.  Ask the model to produce tests, then read those too.  Treat hallucination as the default mode of the tool, not the exception.</a:t>
            </a:r>
            <a:endParaRPr lang="en-US"/>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982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1940</TotalTime>
  <Words>4356</Words>
  <Application>Microsoft Office PowerPoint</Application>
  <PresentationFormat>Widescreen</PresentationFormat>
  <Paragraphs>296</Paragraphs>
  <Slides>48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Trebuchet MS</vt:lpstr>
      <vt:lpstr>Wingdings 3</vt:lpstr>
      <vt:lpstr>Facet</vt:lpstr>
      <vt:lpstr>Software Anti-Patterns</vt:lpstr>
      <vt:lpstr>PowerPoint Presentation</vt:lpstr>
      <vt:lpstr>About This Talk</vt:lpstr>
      <vt:lpstr>About This Talk</vt:lpstr>
      <vt:lpstr>Organizational Anti-Patterns</vt:lpstr>
      <vt:lpstr>Analysis Paralysis</vt:lpstr>
      <vt:lpstr>Bike Shedding</vt:lpstr>
      <vt:lpstr>Design by Committee</vt:lpstr>
      <vt:lpstr>Escalation of Commitment</vt:lpstr>
      <vt:lpstr>Seagull Management</vt:lpstr>
      <vt:lpstr>Typecasting, or “The Expert’s Curse.”</vt:lpstr>
      <vt:lpstr>The Death March</vt:lpstr>
      <vt:lpstr>Scope Creep</vt:lpstr>
      <vt:lpstr>Brooks’ Law From:  The Mythical Man-Month by Fred Brooks</vt:lpstr>
      <vt:lpstr>Tester-Driven Development</vt:lpstr>
      <vt:lpstr>Resume-Driven Development</vt:lpstr>
      <vt:lpstr>Spotify Model Cargo Cult</vt:lpstr>
      <vt:lpstr>Reorg-Driven Development</vt:lpstr>
      <vt:lpstr>Software Design Anti-Patterns</vt:lpstr>
      <vt:lpstr>Group Think</vt:lpstr>
      <vt:lpstr>That’s Not What I Would Do</vt:lpstr>
      <vt:lpstr>Abstraction Inversion</vt:lpstr>
      <vt:lpstr>Big Ball of Mud (BBOM or “Bomb”)</vt:lpstr>
      <vt:lpstr>Gold Plating (BBOM’s Evil Twin)</vt:lpstr>
      <vt:lpstr>Distributed Monolith</vt:lpstr>
      <vt:lpstr>AI-Washing the Architecture</vt:lpstr>
      <vt:lpstr>Strangler Fig That Never Strangles</vt:lpstr>
      <vt:lpstr>Programming Anti-Patterns</vt:lpstr>
      <vt:lpstr>Repository Abuse</vt:lpstr>
      <vt:lpstr>Circular Dependency</vt:lpstr>
      <vt:lpstr>God Object</vt:lpstr>
      <vt:lpstr>Sequential Coupling</vt:lpstr>
      <vt:lpstr>Cargo Cult Programming</vt:lpstr>
      <vt:lpstr>Coding by Exception</vt:lpstr>
      <vt:lpstr>Boat Anchor</vt:lpstr>
      <vt:lpstr>Lava Flow</vt:lpstr>
      <vt:lpstr>Vibe Coding</vt:lpstr>
      <vt:lpstr>Mock Maximalism</vt:lpstr>
      <vt:lpstr>“any” Drift</vt:lpstr>
      <vt:lpstr>Methodological Anti-Patterns</vt:lpstr>
      <vt:lpstr>Copy-and-Paste Programming</vt:lpstr>
      <vt:lpstr>The Golden Hammer, or “Law of Instrument”</vt:lpstr>
      <vt:lpstr>Not Invented Here</vt:lpstr>
      <vt:lpstr>Reinventing the Square Wheel</vt:lpstr>
      <vt:lpstr>Premature Optimization</vt:lpstr>
      <vt:lpstr>LGTM Culture</vt:lpstr>
      <vt:lpstr>Feature Flag Sprawl</vt:lpstr>
      <vt:lpstr>Prompt-and-Pray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Anti-Patterns</dc:title>
  <dc:creator>Eric Burcham</dc:creator>
  <cp:lastModifiedBy>Burcham, Eric</cp:lastModifiedBy>
  <cp:revision>221</cp:revision>
  <dcterms:created xsi:type="dcterms:W3CDTF">2018-06-15T02:43:45Z</dcterms:created>
  <dcterms:modified xsi:type="dcterms:W3CDTF">2026-06-25T19:09:04Z</dcterms:modified>
</cp:coreProperties>
</file>